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4b8f553a464cba" /><Relationship Type="http://schemas.openxmlformats.org/officeDocument/2006/relationships/extended-properties" Target="/docProps/app.xml" Id="R93c5025cf7a14f42" /><Relationship Type="http://schemas.openxmlformats.org/officeDocument/2006/relationships/officeDocument" Target="/ppt/presentation.xml" Id="Rb0d5f8a249cb4834" /></Relationships>
</file>

<file path=ppt/presentation.xml><?xml version="1.0" encoding="utf-8"?>
<p:presentation xmlns:p="http://schemas.openxmlformats.org/presentationml/2006/main">
  <p:sldMasterIdLst>
    <p:sldMasterId xmlns:r="http://schemas.openxmlformats.org/officeDocument/2006/relationships" id="2147483648" r:id="R1d4dc70889f34eef"/>
  </p:sldMasterIdLst>
  <p:notesMasterIdLst>
    <p:notesMasterId xmlns:r="http://schemas.openxmlformats.org/officeDocument/2006/relationships" r:id="R4955607f53f042f4"/>
  </p:notesMasterIdLst>
  <p:sldIdLst>
    <p:sldId xmlns:r="http://schemas.openxmlformats.org/officeDocument/2006/relationships" id="256" r:id="R5f772c9199464f00"/>
    <p:sldId xmlns:r="http://schemas.openxmlformats.org/officeDocument/2006/relationships" id="257" r:id="R59163ed6807d4851"/>
    <p:sldId xmlns:r="http://schemas.openxmlformats.org/officeDocument/2006/relationships" id="258" r:id="R53959214944e4933"/>
    <p:sldId xmlns:r="http://schemas.openxmlformats.org/officeDocument/2006/relationships" id="259" r:id="Rdd42e55600f14787"/>
    <p:sldId xmlns:r="http://schemas.openxmlformats.org/officeDocument/2006/relationships" id="260" r:id="R8a18a69eaa18464c"/>
    <p:sldId xmlns:r="http://schemas.openxmlformats.org/officeDocument/2006/relationships" id="261" r:id="R4ce539cd0fb545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a9c414ea5a413e" /><Relationship Type="http://schemas.openxmlformats.org/officeDocument/2006/relationships/slideMaster" Target="/ppt/slideMasters/slideMaster1.xml" Id="R1d4dc70889f34eef" /><Relationship Type="http://schemas.openxmlformats.org/officeDocument/2006/relationships/notesMaster" Target="/ppt/notesMasters/notesMaster1.xml" Id="R4955607f53f042f4" /><Relationship Type="http://schemas.openxmlformats.org/officeDocument/2006/relationships/presProps" Target="/ppt/presProps.xml" Id="R5a5bc0f7b3c54391" /><Relationship Type="http://schemas.openxmlformats.org/officeDocument/2006/relationships/tableStyles" Target="/ppt/tableStyles.xml" Id="R0e103825897a4c09" /><Relationship Type="http://schemas.openxmlformats.org/officeDocument/2006/relationships/slide" Target="/ppt/slides/slide1.xml" Id="R5f772c9199464f00" /><Relationship Type="http://schemas.openxmlformats.org/officeDocument/2006/relationships/slide" Target="/ppt/slides/slide2.xml" Id="R59163ed6807d4851" /><Relationship Type="http://schemas.openxmlformats.org/officeDocument/2006/relationships/slide" Target="/ppt/slides/slide3.xml" Id="R53959214944e4933" /><Relationship Type="http://schemas.openxmlformats.org/officeDocument/2006/relationships/slide" Target="/ppt/slides/slide4.xml" Id="Rdd42e55600f14787" /><Relationship Type="http://schemas.openxmlformats.org/officeDocument/2006/relationships/slide" Target="/ppt/slides/slide5.xml" Id="R8a18a69eaa18464c" /><Relationship Type="http://schemas.openxmlformats.org/officeDocument/2006/relationships/slide" Target="/ppt/slides/slide6.xml" Id="R4ce539cd0fb545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944aba3cb14a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27e6a26d334350" /><Relationship Type="http://schemas.openxmlformats.org/officeDocument/2006/relationships/notesMaster" Target="/ppt/notesMasters/notesMaster1.xml" Id="R43ff2539732d41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2f9f575a37446d" /><Relationship Type="http://schemas.openxmlformats.org/officeDocument/2006/relationships/notesMaster" Target="/ppt/notesMasters/notesMaster1.xml" Id="R3d83811832334f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a7264f3419458f" /><Relationship Type="http://schemas.openxmlformats.org/officeDocument/2006/relationships/notesMaster" Target="/ppt/notesMasters/notesMaster1.xml" Id="R9e718904fa044b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dfe564e5d840e1" /><Relationship Type="http://schemas.openxmlformats.org/officeDocument/2006/relationships/notesMaster" Target="/ppt/notesMasters/notesMaster1.xml" Id="R36bf43a9996f40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31bf685c564e2d" /><Relationship Type="http://schemas.openxmlformats.org/officeDocument/2006/relationships/notesMaster" Target="/ppt/notesMasters/notesMaster1.xml" Id="R1a7f23cd29a141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f8b57da65d4461" /><Relationship Type="http://schemas.openxmlformats.org/officeDocument/2006/relationships/notesMaster" Target="/ppt/notesMasters/notesMaster1.xml" Id="R69f2f95e402a4a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VYUHA. Team: WhiteList&amp;0. The college name has not been supplied. Problem statement source: user-provided SIH26247 text. The product is a working prototype with illustrative training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Requirements follow the user-supplied SIH26247 statement. Scripted generation currently varies bearings by seed and adds a no-RF contact in response-focused scenarios. Full procedural diversity, calibrated difficulty and anti-rote filtering are planned. The AAR replay is 2D tactical, not a 3D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Python server reconstructs sensor observations and response outcomes from its stored scenario and action log. Regression tests compare the browser and Python engines across three seeds and multiple replay checkpoints. The 15-point node currently rewards resolution before impact, not Kendall-tau prioritization. Logs are reproducible but cannot be claimed tamper-proof. Sources: https://r3f.docs.pmnd.rs/getting-started/installation ; https://fastapi.tiangolo.com/tutorial/static-files/ ; https://developer.mozilla.org/en-US/docs/Web/API/Web_Workers_API/Using_web_workers ; https://developer.mozilla.org/en-US/docs/Web/API/IndexedDB_API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local prototype built in this chat. Local offline reload should be rehearsed on the presentation browser after the cache-ready indicator appears. LAN access and role-based accounts are not implemented. Docker configuration is provided; a container build is not yet verified on this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training benefits, not measured military outcomes. The current prototype stores pseudonymous trainee IDs. It has no pilot data, real radar signatures, real readiness thresholds or claims of improved operational performance. The two-skill director uses Beta profiles and seeded Thompson sampling to choose recognition or response practice. A simulated-learner efficacy experiment is future work and would need explicit simulated-evidence labeling.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SIH26247 statement in the attached pasted context; https://r3f.docs.pmnd.rs/getting-started/installation ; https://fastapi.tiangolo.com/tutorial/static-files/ ; https://developer.mozilla.org/en-US/docs/Web/API/Web_Workers_API/Using_web_workers ; https://developer.mozilla.org/en-US/docs/Web/API/IndexedDB_API . The deck follows the six headings in the team plan, not a verified current official SIH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15c654943b4b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6ecdc971f4c59" /><Relationship Type="http://schemas.openxmlformats.org/officeDocument/2006/relationships/slideLayout" Target="/ppt/slideLayouts/slideLayout1.xml" Id="R679c3d5fb3d544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9c3d5fb3d544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c0f85d80c24b0c" /><Relationship Type="http://schemas.openxmlformats.org/officeDocument/2006/relationships/notesSlide" Target="/ppt/notesSlides/notesSlide1.xml" Id="Reb3f13b2d0c540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5760de40d642e0" /><Relationship Type="http://schemas.openxmlformats.org/officeDocument/2006/relationships/notesSlide" Target="/ppt/notesSlides/notesSlide2.xml" Id="R30f7b40c610e40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26b30a023245a7" /><Relationship Type="http://schemas.openxmlformats.org/officeDocument/2006/relationships/notesSlide" Target="/ppt/notesSlides/notesSlide3.xml" Id="R5cf4acaf3c534d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47c0367b564568" /><Relationship Type="http://schemas.openxmlformats.org/officeDocument/2006/relationships/image" Target="/ppt/media/image.jpeg" Id="R0c002909d9c64c93" /><Relationship Type="http://schemas.openxmlformats.org/officeDocument/2006/relationships/notesSlide" Target="/ppt/notesSlides/notesSlide4.xml" Id="R70fcc065459346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34cc9e7dad4f7a" /><Relationship Type="http://schemas.openxmlformats.org/officeDocument/2006/relationships/notesSlide" Target="/ppt/notesSlides/notesSlide5.xml" Id="Rd9ea200997844e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b673531def459d" /><Relationship Type="http://schemas.openxmlformats.org/officeDocument/2006/relationships/notesSlide" Target="/ppt/notesSlides/notesSlide6.xml" Id="R7c9fe8c46ade44d8" /></Relationships>
</file>

<file path=ppt/slides/slide1.xml><?xml version="1.0" encoding="utf-8"?>
<p:sld xmlns:p="http://schemas.openxmlformats.org/presentationml/2006/main">
  <p:cSld>
    <p:bg>
      <p:bgPr>
        <a:solidFill xmlns:a="http://schemas.openxmlformats.org/drawingml/2006/main">
          <a:srgbClr val="0B1112"/>
        </a:solidFill>
      </p:bgPr>
    </p:bg>
    <p:spTree>
      <p:nvGrpSpPr>
        <p:cNvPr id="1" name=""/>
        <p:cNvGrpSpPr/>
        <p:nvPr/>
      </p:nvGrpSpPr>
      <p:grpSpPr>
        <a:xfrm xmlns:a="http://schemas.openxmlformats.org/drawingml/2006/main"/>
      </p:grpSpPr>
      <p:sp>
        <p:nvSpPr>
          <p:cNvPr id="6" name="PS">
            <a:extLst xmlns:a="http://schemas.openxmlformats.org/drawingml/2006/main">
              <a:ext uri="{FF2B5EF4-FFF2-40B4-BE49-F238E27FC236}">
                <a16:creationId xmlns:a16="http://schemas.microsoft.com/office/drawing/2014/main" id="{C9310E20-11DD-4FF5-8222-63667DD3EDE8}"/>
              </a:ext>
            </a:extLst>
          </p:cNvPr>
          <p:cNvSpPr>
            <a:spLocks xmlns:a="http://schemas.openxmlformats.org/drawingml/2006/main" noGrp="1"/>
          </p:cNvSpPr>
          <p:nvPr/>
        </p:nvSpPr>
        <p:spPr>
          <a:xfrm xmlns:a="http://schemas.openxmlformats.org/drawingml/2006/main">
            <a:off x="666750" y="6096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CDF46D"/>
                </a:solidFill>
                <a:latin typeface="Arial"/>
                <a:ea typeface="Arial"/>
                <a:cs typeface="Arial"/>
              </a:defRPr>
            </a:pPr>
            <a:r>
              <a:rPr sz="1800" b="1">
                <a:solidFill>
                  <a:srgbClr val="CDF46D"/>
                </a:solidFill>
                <a:latin typeface="Arial"/>
                <a:ea typeface="Arial"/>
                <a:cs typeface="Arial"/>
              </a:rPr>
              <a:t>SIH26247</a:t>
            </a:r>
          </a:p>
        </p:txBody>
      </p:sp>
      <p:sp>
        <p:nvSpPr>
          <p:cNvPr id="2" name="VYUHA">
            <a:extLst xmlns:a="http://schemas.openxmlformats.org/drawingml/2006/main">
              <a:ext uri="{FF2B5EF4-FFF2-40B4-BE49-F238E27FC236}">
                <a16:creationId xmlns:a16="http://schemas.microsoft.com/office/drawing/2014/main" id="{75183E99-9D22-478C-90F7-88AEDA7A76F8}"/>
              </a:ext>
            </a:extLst>
          </p:cNvPr>
          <p:cNvSpPr>
            <a:spLocks xmlns:a="http://schemas.openxmlformats.org/drawingml/2006/main" noGrp="1"/>
          </p:cNvSpPr>
          <p:nvPr/>
        </p:nvSpPr>
        <p:spPr>
          <a:xfrm xmlns:a="http://schemas.openxmlformats.org/drawingml/2006/main">
            <a:off x="666750" y="1743075"/>
            <a:ext cx="685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200" b="1">
                <a:solidFill>
                  <a:srgbClr val="E7EDE6"/>
                </a:solidFill>
                <a:latin typeface="Arial"/>
                <a:ea typeface="Arial"/>
                <a:cs typeface="Arial"/>
              </a:defRPr>
            </a:pPr>
            <a:r>
              <a:rPr sz="7200" b="1">
                <a:solidFill>
                  <a:srgbClr val="E7EDE6"/>
                </a:solidFill>
                <a:latin typeface="Arial"/>
                <a:ea typeface="Arial"/>
                <a:cs typeface="Arial"/>
              </a:rPr>
              <a:t>VYUHA</a:t>
            </a:r>
          </a:p>
        </p:txBody>
      </p:sp>
      <p:sp>
        <p:nvSpPr>
          <p:cNvPr id="3" name="product">
            <a:extLst xmlns:a="http://schemas.openxmlformats.org/drawingml/2006/main">
              <a:ext uri="{FF2B5EF4-FFF2-40B4-BE49-F238E27FC236}">
                <a16:creationId xmlns:a16="http://schemas.microsoft.com/office/drawing/2014/main" id="{270EE28A-B037-4EF4-9BCF-B5E935BF22DE}"/>
              </a:ext>
            </a:extLst>
          </p:cNvPr>
          <p:cNvSpPr>
            <a:spLocks xmlns:a="http://schemas.openxmlformats.org/drawingml/2006/main" noGrp="1"/>
          </p:cNvSpPr>
          <p:nvPr/>
        </p:nvSpPr>
        <p:spPr>
          <a:xfrm xmlns:a="http://schemas.openxmlformats.org/drawingml/2006/main">
            <a:off x="695325" y="3057525"/>
            <a:ext cx="981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0">
                <a:solidFill>
                  <a:srgbClr val="E7EDE6"/>
                </a:solidFill>
                <a:latin typeface="Arial"/>
                <a:ea typeface="Arial"/>
                <a:cs typeface="Arial"/>
              </a:defRPr>
            </a:pPr>
            <a:r>
              <a:rPr sz="3225" b="0">
                <a:solidFill>
                  <a:srgbClr val="E7EDE6"/>
                </a:solidFill>
                <a:latin typeface="Arial"/>
                <a:ea typeface="Arial"/>
                <a:cs typeface="Arial"/>
              </a:rPr>
              <a:t>Drone &amp; counter-drone</a:t>
            </a:r>
          </a:p>
          <a:p xmlns:a="http://schemas.openxmlformats.org/drawingml/2006/main">
            <a:pPr>
              <a:defRPr sz="3225" b="0">
                <a:solidFill>
                  <a:srgbClr val="E7EDE6"/>
                </a:solidFill>
                <a:latin typeface="Arial"/>
                <a:ea typeface="Arial"/>
                <a:cs typeface="Arial"/>
              </a:defRPr>
            </a:pPr>
            <a:r>
              <a:rPr sz="3225" b="0">
                <a:solidFill>
                  <a:srgbClr val="E7EDE6"/>
                </a:solidFill>
                <a:latin typeface="Arial"/>
                <a:ea typeface="Arial"/>
                <a:cs typeface="Arial"/>
              </a:rPr>
              <a:t>threat simulation trainer</a:t>
            </a:r>
          </a:p>
        </p:txBody>
      </p:sp>
      <p:sp>
        <p:nvSpPr>
          <p:cNvPr id="4" name="pitch">
            <a:extLst xmlns:a="http://schemas.openxmlformats.org/drawingml/2006/main">
              <a:ext uri="{FF2B5EF4-FFF2-40B4-BE49-F238E27FC236}">
                <a16:creationId xmlns:a16="http://schemas.microsoft.com/office/drawing/2014/main" id="{1F75A1C6-5BBE-4464-8C91-041C434753BE}"/>
              </a:ext>
            </a:extLst>
          </p:cNvPr>
          <p:cNvSpPr>
            <a:spLocks xmlns:a="http://schemas.openxmlformats.org/drawingml/2006/main" noGrp="1"/>
          </p:cNvSpPr>
          <p:nvPr/>
        </p:nvSpPr>
        <p:spPr>
          <a:xfrm xmlns:a="http://schemas.openxmlformats.org/drawingml/2006/main">
            <a:off x="714375" y="4438650"/>
            <a:ext cx="971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A2B3A4"/>
                </a:solidFill>
                <a:latin typeface="Arial"/>
                <a:ea typeface="Arial"/>
                <a:cs typeface="Arial"/>
              </a:defRPr>
            </a:pPr>
            <a:r>
              <a:rPr sz="2175" b="0">
                <a:solidFill>
                  <a:srgbClr val="A2B3A4"/>
                </a:solidFill>
                <a:latin typeface="Arial"/>
                <a:ea typeface="Arial"/>
                <a:cs typeface="Arial"/>
              </a:rPr>
              <a:t>Repeatable practice on a laptop,</a:t>
            </a:r>
          </a:p>
          <a:p xmlns:a="http://schemas.openxmlformats.org/drawingml/2006/main">
            <a:pPr>
              <a:defRPr sz="2175" b="0">
                <a:solidFill>
                  <a:srgbClr val="A2B3A4"/>
                </a:solidFill>
                <a:latin typeface="Arial"/>
                <a:ea typeface="Arial"/>
                <a:cs typeface="Arial"/>
              </a:defRPr>
            </a:pPr>
            <a:r>
              <a:rPr sz="2175" b="0">
                <a:solidFill>
                  <a:srgbClr val="A2B3A4"/>
                </a:solidFill>
                <a:latin typeface="Arial"/>
                <a:ea typeface="Arial"/>
                <a:cs typeface="Arial"/>
              </a:rPr>
              <a:t>with a debrief for every decision</a:t>
            </a:r>
          </a:p>
        </p:txBody>
      </p:sp>
      <p:sp>
        <p:nvSpPr>
          <p:cNvPr id="5" name="team">
            <a:extLst xmlns:a="http://schemas.openxmlformats.org/drawingml/2006/main">
              <a:ext uri="{FF2B5EF4-FFF2-40B4-BE49-F238E27FC236}">
                <a16:creationId xmlns:a16="http://schemas.microsoft.com/office/drawing/2014/main" id="{7E5508FC-588E-4828-819A-7426FC27AF07}"/>
              </a:ext>
            </a:extLst>
          </p:cNvPr>
          <p:cNvSpPr>
            <a:spLocks xmlns:a="http://schemas.openxmlformats.org/drawingml/2006/main" noGrp="1"/>
          </p:cNvSpPr>
          <p:nvPr/>
        </p:nvSpPr>
        <p:spPr>
          <a:xfrm xmlns:a="http://schemas.openxmlformats.org/drawingml/2006/main">
            <a:off x="714375" y="59626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DF46D"/>
                </a:solidFill>
                <a:latin typeface="Arial"/>
                <a:ea typeface="Arial"/>
                <a:cs typeface="Arial"/>
              </a:defRPr>
            </a:pPr>
            <a:r>
              <a:rPr sz="2025" b="1">
                <a:solidFill>
                  <a:srgbClr val="CDF46D"/>
                </a:solidFill>
                <a:latin typeface="Arial"/>
                <a:ea typeface="Arial"/>
                <a:cs typeface="Arial"/>
              </a:rPr>
              <a:t>WhiteList&amp;0</a:t>
            </a:r>
          </a:p>
        </p:txBody>
      </p:sp>
    </p:spTree>
    <p:extLst>
      <p:ext uri="{BB962C8B-B14F-4D97-AF65-F5344CB8AC3E}">
        <p14:creationId xmlns:p14="http://schemas.microsoft.com/office/powerpoint/2010/main" val="1925938340"/>
      </p:ext>
    </p:extLst>
  </p:cSld>
</p:sld>
</file>

<file path=ppt/slides/slide2.xml><?xml version="1.0" encoding="utf-8"?>
<p:sld xmlns:p="http://schemas.openxmlformats.org/presentationml/2006/main">
  <p:cSld>
    <p:bg>
      <p:bgPr>
        <a:solidFill xmlns:a="http://schemas.openxmlformats.org/drawingml/2006/main">
          <a:srgbClr val="0B1112"/>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61ED2A2-A73F-413F-A293-B101713CE240}"/>
              </a:ext>
            </a:extLst>
          </p:cNvPr>
          <p:cNvSpPr>
            <a:spLocks xmlns:a="http://schemas.openxmlformats.org/drawingml/2006/main" noGrp="1"/>
          </p:cNvSpPr>
          <p:nvPr/>
        </p:nvSpPr>
        <p:spPr>
          <a:xfrm xmlns:a="http://schemas.openxmlformats.org/drawingml/2006/main">
            <a:off x="609600" y="42862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E7EDE6"/>
                </a:solidFill>
                <a:latin typeface="Arial"/>
                <a:ea typeface="Arial"/>
                <a:cs typeface="Arial"/>
              </a:defRPr>
            </a:pPr>
            <a:r>
              <a:rPr sz="3300" b="1">
                <a:solidFill>
                  <a:srgbClr val="E7EDE6"/>
                </a:solidFill>
                <a:latin typeface="Arial"/>
                <a:ea typeface="Arial"/>
                <a:cs typeface="Arial"/>
              </a:rPr>
              <a:t>Proposed Solution</a:t>
            </a:r>
          </a:p>
        </p:txBody>
      </p:sp>
      <p:sp>
        <p:nvSpPr>
          <p:cNvPr id="2" name="footer">
            <a:extLst xmlns:a="http://schemas.openxmlformats.org/drawingml/2006/main">
              <a:ext uri="{FF2B5EF4-FFF2-40B4-BE49-F238E27FC236}">
                <a16:creationId xmlns:a16="http://schemas.microsoft.com/office/drawing/2014/main" id="{8BF11E34-CF12-441E-AC40-8E032A9E090A}"/>
              </a:ext>
            </a:extLst>
          </p:cNvPr>
          <p:cNvSpPr>
            <a:spLocks xmlns:a="http://schemas.openxmlformats.org/drawingml/2006/main" noGrp="1"/>
          </p:cNvSpPr>
          <p:nvPr/>
        </p:nvSpPr>
        <p:spPr>
          <a:xfrm xmlns:a="http://schemas.openxmlformats.org/drawingml/2006/main">
            <a:off x="609600" y="6343650"/>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2B3A4"/>
                </a:solidFill>
                <a:latin typeface="Arial"/>
                <a:ea typeface="Arial"/>
                <a:cs typeface="Arial"/>
              </a:defRPr>
            </a:pPr>
            <a:r>
              <a:rPr sz="1200" b="0">
                <a:solidFill>
                  <a:srgbClr val="A2B3A4"/>
                </a:solidFill>
                <a:latin typeface="Arial"/>
                <a:ea typeface="Arial"/>
                <a:cs typeface="Arial"/>
              </a:rPr>
              <a:t>WhiteList&amp;0     SIH26247     2/6</a:t>
            </a:r>
          </a:p>
        </p:txBody>
      </p:sp>
      <p:sp>
        <p:nvSpPr>
          <p:cNvPr id="3" name="claim">
            <a:extLst xmlns:a="http://schemas.openxmlformats.org/drawingml/2006/main">
              <a:ext uri="{FF2B5EF4-FFF2-40B4-BE49-F238E27FC236}">
                <a16:creationId xmlns:a16="http://schemas.microsoft.com/office/drawing/2014/main" id="{E7E50DBE-A72D-458E-B92A-B12A6D701814}"/>
              </a:ext>
            </a:extLst>
          </p:cNvPr>
          <p:cNvSpPr>
            <a:spLocks xmlns:a="http://schemas.openxmlformats.org/drawingml/2006/main" noGrp="1"/>
          </p:cNvSpPr>
          <p:nvPr/>
        </p:nvSpPr>
        <p:spPr>
          <a:xfrm xmlns:a="http://schemas.openxmlformats.org/drawingml/2006/main">
            <a:off x="609600" y="13239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CDF46D"/>
                </a:solidFill>
                <a:latin typeface="Arial"/>
                <a:ea typeface="Arial"/>
                <a:cs typeface="Arial"/>
              </a:defRPr>
            </a:pPr>
            <a:r>
              <a:rPr sz="2400" b="0">
                <a:solidFill>
                  <a:srgbClr val="CDF46D"/>
                </a:solidFill>
                <a:latin typeface="Arial"/>
                <a:ea typeface="Arial"/>
                <a:cs typeface="Arial"/>
              </a:rPr>
              <a:t>A complete practice loop for mixed drone contacts</a:t>
            </a:r>
          </a:p>
        </p:txBody>
      </p:sp>
      <p:graphicFrame>
        <p:nvGraphicFramePr>
          <p:cNvPr id="9" name="requirements"/>
          <p:cNvGraphicFramePr/>
          <p:nvPr/>
        </p:nvGraphicFramePr>
        <p:xfrm>
          <a:off xmlns:a="http://schemas.openxmlformats.org/drawingml/2006/main" x="609600" y="2143125"/>
          <a:ext xmlns:a="http://schemas.openxmlformats.org/drawingml/2006/main" cx="10972800" cy="3352800"/>
        </p:xfrm>
        <a:graphic xmlns:a="http://schemas.openxmlformats.org/drawingml/2006/main">
          <a:graphicData uri="http://schemas.openxmlformats.org/drawingml/2006/table">
            <a:tbl>
              <a:tblPr/>
              <a:tblGrid>
                <a:gridCol w="4476750"/>
                <a:gridCol w="6496050"/>
              </a:tblGrid>
              <a:tr h="670560">
                <a:tc>
                  <a:txBody>
                    <a:bodyPr/>
                    <a:lstStyle/>
                    <a:p>
                      <a:r>
                        <a:rPr sz="1800" b="1">
                          <a:solidFill>
                            <a:srgbClr val="CDF46D"/>
                          </a:solidFill>
                          <a:latin typeface="Arial"/>
                          <a:ea typeface="Arial"/>
                          <a:cs typeface="Arial"/>
                        </a:rPr>
                        <a:t>Problem requirement</a:t>
                      </a:r>
                    </a:p>
                  </a:txBody>
                  <a:tcPr marL="152400" marR="152400" marT="57150" marB="57150">
                    <a:solidFill>
                      <a:srgbClr val="273829"/>
                    </a:solidFill>
                  </a:tcPr>
                </a:tc>
                <a:tc>
                  <a:txBody>
                    <a:bodyPr/>
                    <a:lstStyle/>
                    <a:p>
                      <a:r>
                        <a:rPr sz="1800" b="1">
                          <a:solidFill>
                            <a:srgbClr val="CDF46D"/>
                          </a:solidFill>
                          <a:latin typeface="Arial"/>
                          <a:ea typeface="Arial"/>
                          <a:cs typeface="Arial"/>
                        </a:rPr>
                        <a:t>Working prototype</a:t>
                      </a:r>
                    </a:p>
                  </a:txBody>
                  <a:tcPr marL="152400" marR="152400" marT="57150" marB="57150">
                    <a:solidFill>
                      <a:srgbClr val="273829"/>
                    </a:solidFill>
                  </a:tcPr>
                </a:tc>
              </a:tr>
              <a:tr h="670560">
                <a:tc>
                  <a:txBody>
                    <a:bodyPr/>
                    <a:lstStyle/>
                    <a:p>
                      <a:r>
                        <a:rPr sz="1800">
                          <a:solidFill>
                            <a:srgbClr val="E7EDE6"/>
                          </a:solidFill>
                          <a:latin typeface="Arial"/>
                          <a:ea typeface="Arial"/>
                          <a:cs typeface="Arial"/>
                        </a:rPr>
                        <a:t>Scripted and generated scenarios</a:t>
                      </a:r>
                    </a:p>
                  </a:txBody>
                  <a:tcPr marL="152400" marR="152400" marT="57150" marB="57150">
                    <a:solidFill>
                      <a:srgbClr val="111A18"/>
                    </a:solidFill>
                  </a:tcPr>
                </a:tc>
                <a:tc>
                  <a:txBody>
                    <a:bodyPr/>
                    <a:lstStyle/>
                    <a:p>
                      <a:r>
                        <a:rPr sz="1800">
                          <a:solidFill>
                            <a:srgbClr val="E7EDE6"/>
                          </a:solidFill>
                          <a:latin typeface="Arial"/>
                          <a:ea typeface="Arial"/>
                          <a:cs typeface="Arial"/>
                        </a:rPr>
                        <a:t>75-second drill, new seeds, two skill focuses</a:t>
                      </a:r>
                    </a:p>
                  </a:txBody>
                  <a:tcPr marL="152400" marR="152400" marT="57150" marB="57150">
                    <a:solidFill>
                      <a:srgbClr val="111A18"/>
                    </a:solidFill>
                  </a:tcPr>
                </a:tc>
              </a:tr>
              <a:tr h="670560">
                <a:tc>
                  <a:txBody>
                    <a:bodyPr/>
                    <a:lstStyle/>
                    <a:p>
                      <a:r>
                        <a:rPr sz="1800">
                          <a:solidFill>
                            <a:srgbClr val="E7EDE6"/>
                          </a:solidFill>
                          <a:latin typeface="Arial"/>
                          <a:ea typeface="Arial"/>
                          <a:cs typeface="Arial"/>
                        </a:rPr>
                        <a:t>Detection, classification and response</a:t>
                      </a:r>
                    </a:p>
                  </a:txBody>
                  <a:tcPr marL="152400" marR="152400" marT="57150" marB="57150">
                    <a:solidFill>
                      <a:srgbClr val="111A18"/>
                    </a:solidFill>
                  </a:tcPr>
                </a:tc>
                <a:tc>
                  <a:txBody>
                    <a:bodyPr/>
                    <a:lstStyle/>
                    <a:p>
                      <a:r>
                        <a:rPr sz="1800">
                          <a:solidFill>
                            <a:srgbClr val="E7EDE6"/>
                          </a:solidFill>
                          <a:latin typeface="Arial"/>
                          <a:ea typeface="Arial"/>
                          <a:cs typeface="Arial"/>
                        </a:rPr>
                        <a:t>Working sensor cues and decision controls</a:t>
                      </a:r>
                    </a:p>
                  </a:txBody>
                  <a:tcPr marL="152400" marR="152400" marT="57150" marB="57150">
                    <a:solidFill>
                      <a:srgbClr val="111A18"/>
                    </a:solidFill>
                  </a:tcPr>
                </a:tc>
              </a:tr>
              <a:tr h="670560">
                <a:tc>
                  <a:txBody>
                    <a:bodyPr/>
                    <a:lstStyle/>
                    <a:p>
                      <a:r>
                        <a:rPr sz="1800">
                          <a:solidFill>
                            <a:srgbClr val="E7EDE6"/>
                          </a:solidFill>
                          <a:latin typeface="Arial"/>
                          <a:ea typeface="Arial"/>
                          <a:cs typeface="Arial"/>
                        </a:rPr>
                        <a:t>Decision-tree scoring</a:t>
                      </a:r>
                    </a:p>
                  </a:txBody>
                  <a:tcPr marL="152400" marR="152400" marT="57150" marB="57150">
                    <a:solidFill>
                      <a:srgbClr val="111A18"/>
                    </a:solidFill>
                  </a:tcPr>
                </a:tc>
                <a:tc>
                  <a:txBody>
                    <a:bodyPr/>
                    <a:lstStyle/>
                    <a:p>
                      <a:r>
                        <a:rPr sz="1800">
                          <a:solidFill>
                            <a:srgbClr val="E7EDE6"/>
                          </a:solidFill>
                          <a:latin typeface="Arial"/>
                          <a:ea typeface="Arial"/>
                          <a:cs typeface="Arial"/>
                        </a:rPr>
                        <a:t>Server replay with a transparent 100-point rubric</a:t>
                      </a:r>
                    </a:p>
                  </a:txBody>
                  <a:tcPr marL="152400" marR="152400" marT="57150" marB="57150">
                    <a:solidFill>
                      <a:srgbClr val="111A18"/>
                    </a:solidFill>
                  </a:tcPr>
                </a:tc>
              </a:tr>
              <a:tr h="670560">
                <a:tc>
                  <a:txBody>
                    <a:bodyPr/>
                    <a:lstStyle/>
                    <a:p>
                      <a:r>
                        <a:rPr sz="1800">
                          <a:solidFill>
                            <a:srgbClr val="E7EDE6"/>
                          </a:solidFill>
                          <a:latin typeface="Arial"/>
                          <a:ea typeface="Arial"/>
                          <a:cs typeface="Arial"/>
                        </a:rPr>
                        <a:t>Individual and unit AAR</a:t>
                      </a:r>
                    </a:p>
                  </a:txBody>
                  <a:tcPr marL="152400" marR="152400" marT="57150" marB="57150">
                    <a:solidFill>
                      <a:srgbClr val="111A18"/>
                    </a:solidFill>
                  </a:tcPr>
                </a:tc>
                <a:tc>
                  <a:txBody>
                    <a:bodyPr/>
                    <a:lstStyle/>
                    <a:p>
                      <a:r>
                        <a:rPr sz="1800">
                          <a:solidFill>
                            <a:srgbClr val="E7EDE6"/>
                          </a:solidFill>
                          <a:latin typeface="Arial"/>
                          <a:ea typeface="Arial"/>
                          <a:cs typeface="Arial"/>
                        </a:rPr>
                        <a:t>Replay, reference responses and saved session history</a:t>
                      </a:r>
                    </a:p>
                  </a:txBody>
                  <a:tcPr marL="152400" marR="152400" marT="57150" marB="57150">
                    <a:solidFill>
                      <a:srgbClr val="111A18"/>
                    </a:solidFill>
                  </a:tcPr>
                </a:tc>
              </a:tr>
            </a:tbl>
          </a:graphicData>
        </a:graphic>
      </p:graphicFrame>
      <p:sp>
        <p:nvSpPr>
          <p:cNvPr id="5" name="scope">
            <a:extLst xmlns:a="http://schemas.openxmlformats.org/drawingml/2006/main">
              <a:ext uri="{FF2B5EF4-FFF2-40B4-BE49-F238E27FC236}">
                <a16:creationId xmlns:a16="http://schemas.microsoft.com/office/drawing/2014/main" id="{9DB6073B-C0DB-4C1B-8F41-0A09DADDC1AD}"/>
              </a:ext>
            </a:extLst>
          </p:cNvPr>
          <p:cNvSpPr>
            <a:spLocks xmlns:a="http://schemas.openxmlformats.org/drawingml/2006/main" noGrp="1"/>
          </p:cNvSpPr>
          <p:nvPr/>
        </p:nvSpPr>
        <p:spPr>
          <a:xfrm xmlns:a="http://schemas.openxmlformats.org/drawingml/2006/main">
            <a:off x="609600" y="56388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A2B3A4"/>
                </a:solidFill>
                <a:latin typeface="Arial"/>
                <a:ea typeface="Arial"/>
                <a:cs typeface="Arial"/>
              </a:defRPr>
            </a:pPr>
            <a:r>
              <a:rPr sz="1725" b="0">
                <a:solidFill>
                  <a:srgbClr val="A2B3A4"/>
                </a:solidFill>
                <a:latin typeface="Arial"/>
                <a:ea typeface="Arial"/>
                <a:cs typeface="Arial"/>
              </a:rPr>
              <a:t>Urban terrain and mixed contacts now. Rural terrain and VR follow the prototype.</a:t>
            </a:r>
          </a:p>
        </p:txBody>
      </p:sp>
    </p:spTree>
    <p:extLst>
      <p:ext uri="{BB962C8B-B14F-4D97-AF65-F5344CB8AC3E}">
        <p14:creationId xmlns:p14="http://schemas.microsoft.com/office/powerpoint/2010/main" val="271208706"/>
      </p:ext>
    </p:extLst>
  </p:cSld>
</p:sld>
</file>

<file path=ppt/slides/slide3.xml><?xml version="1.0" encoding="utf-8"?>
<p:sld xmlns:p="http://schemas.openxmlformats.org/presentationml/2006/main">
  <p:cSld>
    <p:bg>
      <p:bgPr>
        <a:solidFill xmlns:a="http://schemas.openxmlformats.org/drawingml/2006/main">
          <a:srgbClr val="0B1112"/>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71BC77C1-1BB3-4582-87CA-3B0DA4EC307B}"/>
              </a:ext>
            </a:extLst>
          </p:cNvPr>
          <p:cNvSpPr>
            <a:spLocks xmlns:a="http://schemas.openxmlformats.org/drawingml/2006/main" noGrp="1"/>
          </p:cNvSpPr>
          <p:nvPr/>
        </p:nvSpPr>
        <p:spPr>
          <a:xfrm xmlns:a="http://schemas.openxmlformats.org/drawingml/2006/main">
            <a:off x="609600" y="42862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E7EDE6"/>
                </a:solidFill>
                <a:latin typeface="Arial"/>
                <a:ea typeface="Arial"/>
                <a:cs typeface="Arial"/>
              </a:defRPr>
            </a:pPr>
            <a:r>
              <a:rPr sz="3300" b="1">
                <a:solidFill>
                  <a:srgbClr val="E7EDE6"/>
                </a:solidFill>
                <a:latin typeface="Arial"/>
                <a:ea typeface="Arial"/>
                <a:cs typeface="Arial"/>
              </a:rPr>
              <a:t>Technical Approach</a:t>
            </a:r>
          </a:p>
        </p:txBody>
      </p:sp>
      <p:sp>
        <p:nvSpPr>
          <p:cNvPr id="2" name="footer">
            <a:extLst xmlns:a="http://schemas.openxmlformats.org/drawingml/2006/main">
              <a:ext uri="{FF2B5EF4-FFF2-40B4-BE49-F238E27FC236}">
                <a16:creationId xmlns:a16="http://schemas.microsoft.com/office/drawing/2014/main" id="{AB8D684E-10C0-4501-B50E-349223D38D21}"/>
              </a:ext>
            </a:extLst>
          </p:cNvPr>
          <p:cNvSpPr>
            <a:spLocks xmlns:a="http://schemas.openxmlformats.org/drawingml/2006/main" noGrp="1"/>
          </p:cNvSpPr>
          <p:nvPr/>
        </p:nvSpPr>
        <p:spPr>
          <a:xfrm xmlns:a="http://schemas.openxmlformats.org/drawingml/2006/main">
            <a:off x="609600" y="6343650"/>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2B3A4"/>
                </a:solidFill>
                <a:latin typeface="Arial"/>
                <a:ea typeface="Arial"/>
                <a:cs typeface="Arial"/>
              </a:defRPr>
            </a:pPr>
            <a:r>
              <a:rPr sz="1200" b="0">
                <a:solidFill>
                  <a:srgbClr val="A2B3A4"/>
                </a:solidFill>
                <a:latin typeface="Arial"/>
                <a:ea typeface="Arial"/>
                <a:cs typeface="Arial"/>
              </a:rPr>
              <a:t>WhiteList&amp;0     SIH26247     3/6</a:t>
            </a:r>
          </a:p>
        </p:txBody>
      </p:sp>
      <p:sp>
        <p:nvSpPr>
          <p:cNvPr id="3" name="">
            <a:extLst xmlns:a="http://schemas.openxmlformats.org/drawingml/2006/main">
              <a:ext uri="{FF2B5EF4-FFF2-40B4-BE49-F238E27FC236}">
                <a16:creationId xmlns:a16="http://schemas.microsoft.com/office/drawing/2014/main" id="{9BD07D24-85A5-45A7-963A-4441D4280B8B}"/>
              </a:ext>
            </a:extLst>
          </p:cNvPr>
          <p:cNvSpPr>
            <a:spLocks xmlns:a="http://schemas.openxmlformats.org/drawingml/2006/main" noGrp="1"/>
          </p:cNvSpPr>
          <p:nvPr/>
        </p:nvSpPr>
        <p:spPr>
          <a:xfrm xmlns:a="http://schemas.openxmlformats.org/drawingml/2006/main">
            <a:off x="609600" y="1495425"/>
            <a:ext cx="3295650" cy="1428750"/>
          </a:xfrm>
          <a:prstGeom xmlns:a="http://schemas.openxmlformats.org/drawingml/2006/main" prst="rect">
            <a:avLst/>
          </a:prstGeom>
          <a:solidFill xmlns:a="http://schemas.openxmlformats.org/drawingml/2006/main">
            <a:srgbClr val="17231C"/>
          </a:solidFill>
          <a:ln xmlns:a="http://schemas.openxmlformats.org/drawingml/2006/main" w="9525">
            <a:solidFill>
              <a:srgbClr val="33443B"/>
            </a:solidFill>
          </a:ln>
        </p:spPr>
      </p:sp>
      <p:sp>
        <p:nvSpPr>
          <p:cNvPr id="4" name="Browser simulation">
            <a:extLst xmlns:a="http://schemas.openxmlformats.org/drawingml/2006/main">
              <a:ext uri="{FF2B5EF4-FFF2-40B4-BE49-F238E27FC236}">
                <a16:creationId xmlns:a16="http://schemas.microsoft.com/office/drawing/2014/main" id="{2CB71CA8-6CD0-4E10-B094-DB478C0C5673}"/>
              </a:ext>
            </a:extLst>
          </p:cNvPr>
          <p:cNvSpPr>
            <a:spLocks xmlns:a="http://schemas.openxmlformats.org/drawingml/2006/main" noGrp="1"/>
          </p:cNvSpPr>
          <p:nvPr/>
        </p:nvSpPr>
        <p:spPr>
          <a:xfrm xmlns:a="http://schemas.openxmlformats.org/drawingml/2006/main">
            <a:off x="819150" y="1666875"/>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DF46D"/>
                </a:solidFill>
                <a:latin typeface="Arial"/>
                <a:ea typeface="Arial"/>
                <a:cs typeface="Arial"/>
              </a:defRPr>
            </a:pPr>
            <a:r>
              <a:rPr sz="2025" b="1">
                <a:solidFill>
                  <a:srgbClr val="CDF46D"/>
                </a:solidFill>
                <a:latin typeface="Arial"/>
                <a:ea typeface="Arial"/>
                <a:cs typeface="Arial"/>
              </a:rPr>
              <a:t>Browser simulation</a:t>
            </a:r>
          </a:p>
        </p:txBody>
      </p:sp>
      <p:sp>
        <p:nvSpPr>
          <p:cNvPr id="5" name="Browser simulation detail">
            <a:extLst xmlns:a="http://schemas.openxmlformats.org/drawingml/2006/main">
              <a:ext uri="{FF2B5EF4-FFF2-40B4-BE49-F238E27FC236}">
                <a16:creationId xmlns:a16="http://schemas.microsoft.com/office/drawing/2014/main" id="{61E0FAD3-8375-4562-976B-0F869331F871}"/>
              </a:ext>
            </a:extLst>
          </p:cNvPr>
          <p:cNvSpPr>
            <a:spLocks xmlns:a="http://schemas.openxmlformats.org/drawingml/2006/main" noGrp="1"/>
          </p:cNvSpPr>
          <p:nvPr/>
        </p:nvSpPr>
        <p:spPr>
          <a:xfrm xmlns:a="http://schemas.openxmlformats.org/drawingml/2006/main">
            <a:off x="819150" y="2105025"/>
            <a:ext cx="2876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E7EDE6"/>
                </a:solidFill>
                <a:latin typeface="Arial"/>
                <a:ea typeface="Arial"/>
                <a:cs typeface="Arial"/>
              </a:defRPr>
            </a:pPr>
            <a:r>
              <a:rPr sz="1725" b="0">
                <a:solidFill>
                  <a:srgbClr val="E7EDE6"/>
                </a:solidFill>
                <a:latin typeface="Arial"/>
                <a:ea typeface="Arial"/>
                <a:cs typeface="Arial"/>
              </a:rPr>
              <a:t>30 Hz worker</a:t>
            </a:r>
          </a:p>
          <a:p xmlns:a="http://schemas.openxmlformats.org/drawingml/2006/main">
            <a:pPr>
              <a:defRPr sz="1725" b="0">
                <a:solidFill>
                  <a:srgbClr val="E7EDE6"/>
                </a:solidFill>
                <a:latin typeface="Arial"/>
                <a:ea typeface="Arial"/>
                <a:cs typeface="Arial"/>
              </a:defRPr>
            </a:pPr>
            <a:r>
              <a:rPr sz="1725" b="0">
                <a:solidFill>
                  <a:srgbClr val="E7EDE6"/>
                </a:solidFill>
                <a:latin typeface="Arial"/>
                <a:ea typeface="Arial"/>
                <a:cs typeface="Arial"/>
              </a:rPr>
              <a:t>Three.js observation view</a:t>
            </a:r>
          </a:p>
        </p:txBody>
      </p:sp>
      <p:sp>
        <p:nvSpPr>
          <p:cNvPr id="6" name="">
            <a:extLst xmlns:a="http://schemas.openxmlformats.org/drawingml/2006/main">
              <a:ext uri="{FF2B5EF4-FFF2-40B4-BE49-F238E27FC236}">
                <a16:creationId xmlns:a16="http://schemas.microsoft.com/office/drawing/2014/main" id="{7CF9A756-7995-42EA-AEDE-780752D37A92}"/>
              </a:ext>
            </a:extLst>
          </p:cNvPr>
          <p:cNvSpPr>
            <a:spLocks xmlns:a="http://schemas.openxmlformats.org/drawingml/2006/main" noGrp="1"/>
          </p:cNvSpPr>
          <p:nvPr/>
        </p:nvSpPr>
        <p:spPr>
          <a:xfrm xmlns:a="http://schemas.openxmlformats.org/drawingml/2006/main">
            <a:off x="4448175" y="1495425"/>
            <a:ext cx="3295650" cy="1428750"/>
          </a:xfrm>
          <a:prstGeom xmlns:a="http://schemas.openxmlformats.org/drawingml/2006/main" prst="rect">
            <a:avLst/>
          </a:prstGeom>
          <a:solidFill xmlns:a="http://schemas.openxmlformats.org/drawingml/2006/main">
            <a:srgbClr val="17231C"/>
          </a:solidFill>
          <a:ln xmlns:a="http://schemas.openxmlformats.org/drawingml/2006/main" w="9525">
            <a:solidFill>
              <a:srgbClr val="33443B"/>
            </a:solidFill>
          </a:ln>
        </p:spPr>
      </p:sp>
      <p:sp>
        <p:nvSpPr>
          <p:cNvPr id="7" name="Local scoring server">
            <a:extLst xmlns:a="http://schemas.openxmlformats.org/drawingml/2006/main">
              <a:ext uri="{FF2B5EF4-FFF2-40B4-BE49-F238E27FC236}">
                <a16:creationId xmlns:a16="http://schemas.microsoft.com/office/drawing/2014/main" id="{D25282F6-1017-43A0-853F-0D57FDE445EF}"/>
              </a:ext>
            </a:extLst>
          </p:cNvPr>
          <p:cNvSpPr>
            <a:spLocks xmlns:a="http://schemas.openxmlformats.org/drawingml/2006/main" noGrp="1"/>
          </p:cNvSpPr>
          <p:nvPr/>
        </p:nvSpPr>
        <p:spPr>
          <a:xfrm xmlns:a="http://schemas.openxmlformats.org/drawingml/2006/main">
            <a:off x="4657725" y="1666875"/>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DF46D"/>
                </a:solidFill>
                <a:latin typeface="Arial"/>
                <a:ea typeface="Arial"/>
                <a:cs typeface="Arial"/>
              </a:defRPr>
            </a:pPr>
            <a:r>
              <a:rPr sz="2025" b="1">
                <a:solidFill>
                  <a:srgbClr val="CDF46D"/>
                </a:solidFill>
                <a:latin typeface="Arial"/>
                <a:ea typeface="Arial"/>
                <a:cs typeface="Arial"/>
              </a:rPr>
              <a:t>Local scoring server</a:t>
            </a:r>
          </a:p>
        </p:txBody>
      </p:sp>
      <p:sp>
        <p:nvSpPr>
          <p:cNvPr id="8" name="Local scoring server detail">
            <a:extLst xmlns:a="http://schemas.openxmlformats.org/drawingml/2006/main">
              <a:ext uri="{FF2B5EF4-FFF2-40B4-BE49-F238E27FC236}">
                <a16:creationId xmlns:a16="http://schemas.microsoft.com/office/drawing/2014/main" id="{CBCF4231-5282-408D-B5F6-44124019FF49}"/>
              </a:ext>
            </a:extLst>
          </p:cNvPr>
          <p:cNvSpPr>
            <a:spLocks xmlns:a="http://schemas.openxmlformats.org/drawingml/2006/main" noGrp="1"/>
          </p:cNvSpPr>
          <p:nvPr/>
        </p:nvSpPr>
        <p:spPr>
          <a:xfrm xmlns:a="http://schemas.openxmlformats.org/drawingml/2006/main">
            <a:off x="4657725" y="2105025"/>
            <a:ext cx="2876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E7EDE6"/>
                </a:solidFill>
                <a:latin typeface="Arial"/>
                <a:ea typeface="Arial"/>
                <a:cs typeface="Arial"/>
              </a:defRPr>
            </a:pPr>
            <a:r>
              <a:rPr sz="1725" b="0">
                <a:solidFill>
                  <a:srgbClr val="E7EDE6"/>
                </a:solidFill>
                <a:latin typeface="Arial"/>
                <a:ea typeface="Arial"/>
                <a:cs typeface="Arial"/>
              </a:rPr>
              <a:t>FastAPI replay</a:t>
            </a:r>
          </a:p>
          <a:p xmlns:a="http://schemas.openxmlformats.org/drawingml/2006/main">
            <a:pPr>
              <a:defRPr sz="1725" b="0">
                <a:solidFill>
                  <a:srgbClr val="E7EDE6"/>
                </a:solidFill>
                <a:latin typeface="Arial"/>
                <a:ea typeface="Arial"/>
                <a:cs typeface="Arial"/>
              </a:defRPr>
            </a:pPr>
            <a:r>
              <a:rPr sz="1725" b="0">
                <a:solidFill>
                  <a:srgbClr val="E7EDE6"/>
                </a:solidFill>
                <a:latin typeface="Arial"/>
                <a:ea typeface="Arial"/>
                <a:cs typeface="Arial"/>
              </a:rPr>
              <a:t>Validated action log</a:t>
            </a:r>
          </a:p>
        </p:txBody>
      </p:sp>
      <p:sp>
        <p:nvSpPr>
          <p:cNvPr id="9" name="">
            <a:extLst xmlns:a="http://schemas.openxmlformats.org/drawingml/2006/main">
              <a:ext uri="{FF2B5EF4-FFF2-40B4-BE49-F238E27FC236}">
                <a16:creationId xmlns:a16="http://schemas.microsoft.com/office/drawing/2014/main" id="{AD04C7FF-43EA-4B82-9324-2BE2DE713309}"/>
              </a:ext>
            </a:extLst>
          </p:cNvPr>
          <p:cNvSpPr>
            <a:spLocks xmlns:a="http://schemas.openxmlformats.org/drawingml/2006/main" noGrp="1"/>
          </p:cNvSpPr>
          <p:nvPr/>
        </p:nvSpPr>
        <p:spPr>
          <a:xfrm xmlns:a="http://schemas.openxmlformats.org/drawingml/2006/main">
            <a:off x="8286750" y="1495425"/>
            <a:ext cx="3295650" cy="1428750"/>
          </a:xfrm>
          <a:prstGeom xmlns:a="http://schemas.openxmlformats.org/drawingml/2006/main" prst="rect">
            <a:avLst/>
          </a:prstGeom>
          <a:solidFill xmlns:a="http://schemas.openxmlformats.org/drawingml/2006/main">
            <a:srgbClr val="17231C"/>
          </a:solidFill>
          <a:ln xmlns:a="http://schemas.openxmlformats.org/drawingml/2006/main" w="9525">
            <a:solidFill>
              <a:srgbClr val="33443B"/>
            </a:solidFill>
          </a:ln>
        </p:spPr>
      </p:sp>
      <p:sp>
        <p:nvSpPr>
          <p:cNvPr id="10" name="Session storage">
            <a:extLst xmlns:a="http://schemas.openxmlformats.org/drawingml/2006/main">
              <a:ext uri="{FF2B5EF4-FFF2-40B4-BE49-F238E27FC236}">
                <a16:creationId xmlns:a16="http://schemas.microsoft.com/office/drawing/2014/main" id="{A41245D0-9015-4EBF-82B5-FC30A162C924}"/>
              </a:ext>
            </a:extLst>
          </p:cNvPr>
          <p:cNvSpPr>
            <a:spLocks xmlns:a="http://schemas.openxmlformats.org/drawingml/2006/main" noGrp="1"/>
          </p:cNvSpPr>
          <p:nvPr/>
        </p:nvSpPr>
        <p:spPr>
          <a:xfrm xmlns:a="http://schemas.openxmlformats.org/drawingml/2006/main">
            <a:off x="8496300" y="1666875"/>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DF46D"/>
                </a:solidFill>
                <a:latin typeface="Arial"/>
                <a:ea typeface="Arial"/>
                <a:cs typeface="Arial"/>
              </a:defRPr>
            </a:pPr>
            <a:r>
              <a:rPr sz="2025" b="1">
                <a:solidFill>
                  <a:srgbClr val="CDF46D"/>
                </a:solidFill>
                <a:latin typeface="Arial"/>
                <a:ea typeface="Arial"/>
                <a:cs typeface="Arial"/>
              </a:rPr>
              <a:t>Session storage</a:t>
            </a:r>
          </a:p>
        </p:txBody>
      </p:sp>
      <p:sp>
        <p:nvSpPr>
          <p:cNvPr id="11" name="Session storage detail">
            <a:extLst xmlns:a="http://schemas.openxmlformats.org/drawingml/2006/main">
              <a:ext uri="{FF2B5EF4-FFF2-40B4-BE49-F238E27FC236}">
                <a16:creationId xmlns:a16="http://schemas.microsoft.com/office/drawing/2014/main" id="{F9C716BD-1EAA-4831-B288-F4AD9743CE8B}"/>
              </a:ext>
            </a:extLst>
          </p:cNvPr>
          <p:cNvSpPr>
            <a:spLocks xmlns:a="http://schemas.openxmlformats.org/drawingml/2006/main" noGrp="1"/>
          </p:cNvSpPr>
          <p:nvPr/>
        </p:nvSpPr>
        <p:spPr>
          <a:xfrm xmlns:a="http://schemas.openxmlformats.org/drawingml/2006/main">
            <a:off x="8496300" y="2105025"/>
            <a:ext cx="2876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E7EDE6"/>
                </a:solidFill>
                <a:latin typeface="Arial"/>
                <a:ea typeface="Arial"/>
                <a:cs typeface="Arial"/>
              </a:defRPr>
            </a:pPr>
            <a:r>
              <a:rPr sz="1725" b="0">
                <a:solidFill>
                  <a:srgbClr val="E7EDE6"/>
                </a:solidFill>
                <a:latin typeface="Arial"/>
                <a:ea typeface="Arial"/>
                <a:cs typeface="Arial"/>
              </a:rPr>
              <a:t>SQLite on the laptop</a:t>
            </a:r>
          </a:p>
          <a:p xmlns:a="http://schemas.openxmlformats.org/drawingml/2006/main">
            <a:pPr>
              <a:defRPr sz="1725" b="0">
                <a:solidFill>
                  <a:srgbClr val="E7EDE6"/>
                </a:solidFill>
                <a:latin typeface="Arial"/>
                <a:ea typeface="Arial"/>
                <a:cs typeface="Arial"/>
              </a:defRPr>
            </a:pPr>
            <a:r>
              <a:rPr sz="1725" b="0">
                <a:solidFill>
                  <a:srgbClr val="E7EDE6"/>
                </a:solidFill>
                <a:latin typeface="Arial"/>
                <a:ea typeface="Arial"/>
                <a:cs typeface="Arial"/>
              </a:rPr>
              <a:t>IndexedDB on the device</a:t>
            </a:r>
          </a:p>
        </p:txBody>
      </p:sp>
      <p:sp>
        <p:nvSpPr>
          <p:cNvPr id="12" name="flow">
            <a:extLst xmlns:a="http://schemas.openxmlformats.org/drawingml/2006/main">
              <a:ext uri="{FF2B5EF4-FFF2-40B4-BE49-F238E27FC236}">
                <a16:creationId xmlns:a16="http://schemas.microsoft.com/office/drawing/2014/main" id="{7A270693-5C08-402A-99DF-FB1F19B5BF40}"/>
              </a:ext>
            </a:extLst>
          </p:cNvPr>
          <p:cNvSpPr>
            <a:spLocks xmlns:a="http://schemas.openxmlformats.org/drawingml/2006/main" noGrp="1"/>
          </p:cNvSpPr>
          <p:nvPr/>
        </p:nvSpPr>
        <p:spPr>
          <a:xfrm xmlns:a="http://schemas.openxmlformats.org/drawingml/2006/main">
            <a:off x="609600" y="32099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CDF46D"/>
                </a:solidFill>
                <a:latin typeface="Arial"/>
                <a:ea typeface="Arial"/>
                <a:cs typeface="Arial"/>
              </a:defRPr>
            </a:pPr>
            <a:r>
              <a:rPr sz="2325" b="0">
                <a:solidFill>
                  <a:srgbClr val="CDF46D"/>
                </a:solidFill>
                <a:latin typeface="Arial"/>
                <a:ea typeface="Arial"/>
                <a:cs typeface="Arial"/>
              </a:rPr>
              <a:t>Scenario seed and trainee decisions reproduce the exercise</a:t>
            </a:r>
          </a:p>
        </p:txBody>
      </p:sp>
      <p:graphicFrame>
        <p:nvGraphicFramePr>
          <p:cNvPr id="27" name="rubric"/>
          <p:cNvGraphicFramePr/>
          <p:nvPr/>
        </p:nvGraphicFramePr>
        <p:xfrm>
          <a:off xmlns:a="http://schemas.openxmlformats.org/drawingml/2006/main" x="609600" y="4048125"/>
          <a:ext xmlns:a="http://schemas.openxmlformats.org/drawingml/2006/main" cx="10972800" cy="1200150"/>
        </p:xfrm>
        <a:graphic xmlns:a="http://schemas.openxmlformats.org/drawingml/2006/main">
          <a:graphicData uri="http://schemas.openxmlformats.org/drawingml/2006/table">
            <a:tbl>
              <a:tblPr/>
              <a:tblGrid>
                <a:gridCol w="2743200"/>
                <a:gridCol w="2743200"/>
                <a:gridCol w="2743200"/>
                <a:gridCol w="2743200"/>
              </a:tblGrid>
              <a:tr h="600075">
                <a:tc>
                  <a:txBody>
                    <a:bodyPr/>
                    <a:lstStyle/>
                    <a:p>
                      <a:r>
                        <a:rPr sz="1800" b="1">
                          <a:solidFill>
                            <a:srgbClr val="CDF46D"/>
                          </a:solidFill>
                          <a:latin typeface="Arial"/>
                          <a:ea typeface="Arial"/>
                          <a:cs typeface="Arial"/>
                        </a:rPr>
                        <a:t>Detect</a:t>
                      </a:r>
                    </a:p>
                  </a:txBody>
                  <a:tcPr marL="152400" marR="152400" marT="57150" marB="57150">
                    <a:solidFill>
                      <a:srgbClr val="273829"/>
                    </a:solidFill>
                  </a:tcPr>
                </a:tc>
                <a:tc>
                  <a:txBody>
                    <a:bodyPr/>
                    <a:lstStyle/>
                    <a:p>
                      <a:r>
                        <a:rPr sz="1800" b="1">
                          <a:solidFill>
                            <a:srgbClr val="CDF46D"/>
                          </a:solidFill>
                          <a:latin typeface="Arial"/>
                          <a:ea typeface="Arial"/>
                          <a:cs typeface="Arial"/>
                        </a:rPr>
                        <a:t>Classify</a:t>
                      </a:r>
                    </a:p>
                  </a:txBody>
                  <a:tcPr marL="152400" marR="152400" marT="57150" marB="57150">
                    <a:solidFill>
                      <a:srgbClr val="273829"/>
                    </a:solidFill>
                  </a:tcPr>
                </a:tc>
                <a:tc>
                  <a:txBody>
                    <a:bodyPr/>
                    <a:lstStyle/>
                    <a:p>
                      <a:r>
                        <a:rPr sz="1800" b="1">
                          <a:solidFill>
                            <a:srgbClr val="CDF46D"/>
                          </a:solidFill>
                          <a:latin typeface="Arial"/>
                          <a:ea typeface="Arial"/>
                          <a:cs typeface="Arial"/>
                        </a:rPr>
                        <a:t>Timely response</a:t>
                      </a:r>
                    </a:p>
                  </a:txBody>
                  <a:tcPr marL="152400" marR="152400" marT="57150" marB="57150">
                    <a:solidFill>
                      <a:srgbClr val="273829"/>
                    </a:solidFill>
                  </a:tcPr>
                </a:tc>
                <a:tc>
                  <a:txBody>
                    <a:bodyPr/>
                    <a:lstStyle/>
                    <a:p>
                      <a:r>
                        <a:rPr sz="1800" b="1">
                          <a:solidFill>
                            <a:srgbClr val="CDF46D"/>
                          </a:solidFill>
                          <a:latin typeface="Arial"/>
                          <a:ea typeface="Arial"/>
                          <a:cs typeface="Arial"/>
                        </a:rPr>
                        <a:t>Engage</a:t>
                      </a:r>
                    </a:p>
                  </a:txBody>
                  <a:tcPr marL="152400" marR="152400" marT="57150" marB="57150">
                    <a:solidFill>
                      <a:srgbClr val="273829"/>
                    </a:solidFill>
                  </a:tcPr>
                </a:tc>
              </a:tr>
              <a:tr h="600075">
                <a:tc>
                  <a:txBody>
                    <a:bodyPr/>
                    <a:lstStyle/>
                    <a:p>
                      <a:r>
                        <a:rPr sz="1800">
                          <a:solidFill>
                            <a:srgbClr val="E7EDE6"/>
                          </a:solidFill>
                          <a:latin typeface="Arial"/>
                          <a:ea typeface="Arial"/>
                          <a:cs typeface="Arial"/>
                        </a:rPr>
                        <a:t>25 points</a:t>
                      </a:r>
                    </a:p>
                  </a:txBody>
                  <a:tcPr marL="152400" marR="152400" marT="57150" marB="57150">
                    <a:solidFill>
                      <a:srgbClr val="111A18"/>
                    </a:solidFill>
                  </a:tcPr>
                </a:tc>
                <a:tc>
                  <a:txBody>
                    <a:bodyPr/>
                    <a:lstStyle/>
                    <a:p>
                      <a:r>
                        <a:rPr sz="1800">
                          <a:solidFill>
                            <a:srgbClr val="E7EDE6"/>
                          </a:solidFill>
                          <a:latin typeface="Arial"/>
                          <a:ea typeface="Arial"/>
                          <a:cs typeface="Arial"/>
                        </a:rPr>
                        <a:t>25 points</a:t>
                      </a:r>
                    </a:p>
                  </a:txBody>
                  <a:tcPr marL="152400" marR="152400" marT="57150" marB="57150">
                    <a:solidFill>
                      <a:srgbClr val="111A18"/>
                    </a:solidFill>
                  </a:tcPr>
                </a:tc>
                <a:tc>
                  <a:txBody>
                    <a:bodyPr/>
                    <a:lstStyle/>
                    <a:p>
                      <a:r>
                        <a:rPr sz="1800">
                          <a:solidFill>
                            <a:srgbClr val="E7EDE6"/>
                          </a:solidFill>
                          <a:latin typeface="Arial"/>
                          <a:ea typeface="Arial"/>
                          <a:cs typeface="Arial"/>
                        </a:rPr>
                        <a:t>15 points</a:t>
                      </a:r>
                    </a:p>
                  </a:txBody>
                  <a:tcPr marL="152400" marR="152400" marT="57150" marB="57150">
                    <a:solidFill>
                      <a:srgbClr val="111A18"/>
                    </a:solidFill>
                  </a:tcPr>
                </a:tc>
                <a:tc>
                  <a:txBody>
                    <a:bodyPr/>
                    <a:lstStyle/>
                    <a:p>
                      <a:r>
                        <a:rPr sz="1800">
                          <a:solidFill>
                            <a:srgbClr val="E7EDE6"/>
                          </a:solidFill>
                          <a:latin typeface="Arial"/>
                          <a:ea typeface="Arial"/>
                          <a:cs typeface="Arial"/>
                        </a:rPr>
                        <a:t>35 points</a:t>
                      </a:r>
                    </a:p>
                  </a:txBody>
                  <a:tcPr marL="152400" marR="152400" marT="57150" marB="57150">
                    <a:solidFill>
                      <a:srgbClr val="111A18"/>
                    </a:solidFill>
                  </a:tcPr>
                </a:tc>
              </a:tr>
            </a:tbl>
          </a:graphicData>
        </a:graphic>
      </p:graphicFrame>
      <p:sp>
        <p:nvSpPr>
          <p:cNvPr id="14" name="fairness">
            <a:extLst xmlns:a="http://schemas.openxmlformats.org/drawingml/2006/main">
              <a:ext uri="{FF2B5EF4-FFF2-40B4-BE49-F238E27FC236}">
                <a16:creationId xmlns:a16="http://schemas.microsoft.com/office/drawing/2014/main" id="{843431DB-3DF2-4559-AFEB-F4768B0C7759}"/>
              </a:ext>
            </a:extLst>
          </p:cNvPr>
          <p:cNvSpPr>
            <a:spLocks xmlns:a="http://schemas.openxmlformats.org/drawingml/2006/main" noGrp="1"/>
          </p:cNvSpPr>
          <p:nvPr/>
        </p:nvSpPr>
        <p:spPr>
          <a:xfrm xmlns:a="http://schemas.openxmlformats.org/drawingml/2006/main">
            <a:off x="609600" y="5543550"/>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A2B3A4"/>
                </a:solidFill>
                <a:latin typeface="Arial"/>
                <a:ea typeface="Arial"/>
                <a:cs typeface="Arial"/>
              </a:defRPr>
            </a:pPr>
            <a:r>
              <a:rPr sz="1875" b="0">
                <a:solidFill>
                  <a:srgbClr val="A2B3A4"/>
                </a:solidFill>
                <a:latin typeface="Arial"/>
                <a:ea typeface="Arial"/>
                <a:cs typeface="Arial"/>
              </a:rPr>
              <a:t>Detection time starts at the first working-sensor observation.</a:t>
            </a:r>
          </a:p>
          <a:p xmlns:a="http://schemas.openxmlformats.org/drawingml/2006/main">
            <a:pPr>
              <a:defRPr sz="1875" b="0">
                <a:solidFill>
                  <a:srgbClr val="A2B3A4"/>
                </a:solidFill>
                <a:latin typeface="Arial"/>
                <a:ea typeface="Arial"/>
                <a:cs typeface="Arial"/>
              </a:defRPr>
            </a:pPr>
            <a:r>
              <a:rPr sz="1875" b="0">
                <a:solidFill>
                  <a:srgbClr val="A2B3A4"/>
                </a:solidFill>
                <a:latin typeface="Arial"/>
                <a:ea typeface="Arial"/>
                <a:cs typeface="Arial"/>
              </a:rPr>
              <a:t>A non-hostile engagement fails the session.</a:t>
            </a:r>
          </a:p>
        </p:txBody>
      </p:sp>
    </p:spTree>
    <p:extLst>
      <p:ext uri="{BB962C8B-B14F-4D97-AF65-F5344CB8AC3E}">
        <p14:creationId xmlns:p14="http://schemas.microsoft.com/office/powerpoint/2010/main" val="525439227"/>
      </p:ext>
    </p:extLst>
  </p:cSld>
</p:sld>
</file>

<file path=ppt/slides/slide4.xml><?xml version="1.0" encoding="utf-8"?>
<p:sld xmlns:p="http://schemas.openxmlformats.org/presentationml/2006/main">
  <p:cSld>
    <p:bg>
      <p:bgPr>
        <a:solidFill xmlns:a="http://schemas.openxmlformats.org/drawingml/2006/main">
          <a:srgbClr val="0B1112"/>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4FBB8DD-1028-493B-9A45-25D5AB04EC73}"/>
              </a:ext>
            </a:extLst>
          </p:cNvPr>
          <p:cNvSpPr>
            <a:spLocks xmlns:a="http://schemas.openxmlformats.org/drawingml/2006/main" noGrp="1"/>
          </p:cNvSpPr>
          <p:nvPr/>
        </p:nvSpPr>
        <p:spPr>
          <a:xfrm xmlns:a="http://schemas.openxmlformats.org/drawingml/2006/main">
            <a:off x="609600" y="42862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E7EDE6"/>
                </a:solidFill>
                <a:latin typeface="Arial"/>
                <a:ea typeface="Arial"/>
                <a:cs typeface="Arial"/>
              </a:defRPr>
            </a:pPr>
            <a:r>
              <a:rPr sz="3300" b="1">
                <a:solidFill>
                  <a:srgbClr val="E7EDE6"/>
                </a:solidFill>
                <a:latin typeface="Arial"/>
                <a:ea typeface="Arial"/>
                <a:cs typeface="Arial"/>
              </a:rPr>
              <a:t>Feasibility &amp; Viability</a:t>
            </a:r>
          </a:p>
        </p:txBody>
      </p:sp>
      <p:sp>
        <p:nvSpPr>
          <p:cNvPr id="2" name="footer">
            <a:extLst xmlns:a="http://schemas.openxmlformats.org/drawingml/2006/main">
              <a:ext uri="{FF2B5EF4-FFF2-40B4-BE49-F238E27FC236}">
                <a16:creationId xmlns:a16="http://schemas.microsoft.com/office/drawing/2014/main" id="{3B8F5308-4079-41FB-99A7-2C80545277AD}"/>
              </a:ext>
            </a:extLst>
          </p:cNvPr>
          <p:cNvSpPr>
            <a:spLocks xmlns:a="http://schemas.openxmlformats.org/drawingml/2006/main" noGrp="1"/>
          </p:cNvSpPr>
          <p:nvPr/>
        </p:nvSpPr>
        <p:spPr>
          <a:xfrm xmlns:a="http://schemas.openxmlformats.org/drawingml/2006/main">
            <a:off x="609600" y="6343650"/>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2B3A4"/>
                </a:solidFill>
                <a:latin typeface="Arial"/>
                <a:ea typeface="Arial"/>
                <a:cs typeface="Arial"/>
              </a:defRPr>
            </a:pPr>
            <a:r>
              <a:rPr sz="1200" b="0">
                <a:solidFill>
                  <a:srgbClr val="A2B3A4"/>
                </a:solidFill>
                <a:latin typeface="Arial"/>
                <a:ea typeface="Arial"/>
                <a:cs typeface="Arial"/>
              </a:rPr>
              <a:t>WhiteList&amp;0     SIH26247     4/6</a:t>
            </a:r>
          </a:p>
        </p:txBody>
      </p:sp>
      <p:sp>
        <p:nvSpPr>
          <p:cNvPr id="3" name="local">
            <a:extLst xmlns:a="http://schemas.openxmlformats.org/drawingml/2006/main">
              <a:ext uri="{FF2B5EF4-FFF2-40B4-BE49-F238E27FC236}">
                <a16:creationId xmlns:a16="http://schemas.microsoft.com/office/drawing/2014/main" id="{DFF1D6D7-EACF-4E7A-9D0F-0F91E558F4C5}"/>
              </a:ext>
            </a:extLst>
          </p:cNvPr>
          <p:cNvSpPr>
            <a:spLocks xmlns:a="http://schemas.openxmlformats.org/drawingml/2006/main" noGrp="1"/>
          </p:cNvSpPr>
          <p:nvPr/>
        </p:nvSpPr>
        <p:spPr>
          <a:xfrm xmlns:a="http://schemas.openxmlformats.org/drawingml/2006/main">
            <a:off x="609600" y="14859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CDF46D"/>
                </a:solidFill>
                <a:latin typeface="Arial"/>
                <a:ea typeface="Arial"/>
                <a:cs typeface="Arial"/>
              </a:defRPr>
            </a:pPr>
            <a:r>
              <a:rPr sz="2400" b="1">
                <a:solidFill>
                  <a:srgbClr val="CDF46D"/>
                </a:solidFill>
                <a:latin typeface="Arial"/>
                <a:ea typeface="Arial"/>
                <a:cs typeface="Arial"/>
              </a:rPr>
              <a:t>Local demonstration</a:t>
            </a:r>
          </a:p>
        </p:txBody>
      </p:sp>
      <p:sp>
        <p:nvSpPr>
          <p:cNvPr id="4" name="local details">
            <a:extLst xmlns:a="http://schemas.openxmlformats.org/drawingml/2006/main">
              <a:ext uri="{FF2B5EF4-FFF2-40B4-BE49-F238E27FC236}">
                <a16:creationId xmlns:a16="http://schemas.microsoft.com/office/drawing/2014/main" id="{F22B6E76-5C70-4615-A279-CBF4F3A6DBBB}"/>
              </a:ext>
            </a:extLst>
          </p:cNvPr>
          <p:cNvSpPr>
            <a:spLocks xmlns:a="http://schemas.openxmlformats.org/drawingml/2006/main" noGrp="1"/>
          </p:cNvSpPr>
          <p:nvPr/>
        </p:nvSpPr>
        <p:spPr>
          <a:xfrm xmlns:a="http://schemas.openxmlformats.org/drawingml/2006/main">
            <a:off x="609600" y="2124075"/>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E7EDE6"/>
                </a:solidFill>
                <a:latin typeface="Arial"/>
                <a:ea typeface="Arial"/>
                <a:cs typeface="Arial"/>
              </a:defRPr>
            </a:pPr>
            <a:r>
              <a:rPr sz="2175" b="0">
                <a:solidFill>
                  <a:srgbClr val="E7EDE6"/>
                </a:solidFill>
                <a:latin typeface="Arial"/>
                <a:ea typeface="Arial"/>
                <a:cs typeface="Arial"/>
              </a:rPr>
              <a:t>The same laptop serves the app</a:t>
            </a:r>
          </a:p>
          <a:p xmlns:a="http://schemas.openxmlformats.org/drawingml/2006/main">
            <a:pPr>
              <a:defRPr sz="2175" b="0">
                <a:solidFill>
                  <a:srgbClr val="E7EDE6"/>
                </a:solidFill>
                <a:latin typeface="Arial"/>
                <a:ea typeface="Arial"/>
                <a:cs typeface="Arial"/>
              </a:defRPr>
            </a:pPr>
            <a:r>
              <a:rPr sz="2175" b="0">
                <a:solidFill>
                  <a:srgbClr val="E7EDE6"/>
                </a:solidFill>
                <a:latin typeface="Arial"/>
                <a:ea typeface="Arial"/>
                <a:cs typeface="Arial"/>
              </a:rPr>
              <a:t>and scores the exercise.</a:t>
            </a:r>
          </a:p>
          <a:p xmlns:a="http://schemas.openxmlformats.org/drawingml/2006/main">
            <a:r>
              <a:t/>
            </a:r>
          </a:p>
          <a:p xmlns:a="http://schemas.openxmlformats.org/drawingml/2006/main">
            <a:pPr>
              <a:defRPr sz="2175" b="0">
                <a:solidFill>
                  <a:srgbClr val="E7EDE6"/>
                </a:solidFill>
                <a:latin typeface="Arial"/>
                <a:ea typeface="Arial"/>
                <a:cs typeface="Arial"/>
              </a:defRPr>
            </a:pPr>
            <a:r>
              <a:rPr sz="2175" b="0">
                <a:solidFill>
                  <a:srgbClr val="E7EDE6"/>
                </a:solidFill>
                <a:latin typeface="Arial"/>
                <a:ea typeface="Arial"/>
                <a:cs typeface="Arial"/>
              </a:rPr>
              <a:t>The browser keeps session records</a:t>
            </a:r>
          </a:p>
          <a:p xmlns:a="http://schemas.openxmlformats.org/drawingml/2006/main">
            <a:pPr>
              <a:defRPr sz="2175" b="0">
                <a:solidFill>
                  <a:srgbClr val="E7EDE6"/>
                </a:solidFill>
                <a:latin typeface="Arial"/>
                <a:ea typeface="Arial"/>
                <a:cs typeface="Arial"/>
              </a:defRPr>
            </a:pPr>
            <a:r>
              <a:rPr sz="2175" b="0">
                <a:solidFill>
                  <a:srgbClr val="E7EDE6"/>
                </a:solidFill>
                <a:latin typeface="Arial"/>
                <a:ea typeface="Arial"/>
                <a:cs typeface="Arial"/>
              </a:rPr>
              <a:t>and restores unfinished practice.</a:t>
            </a:r>
          </a:p>
        </p:txBody>
      </p:sp>
      <p:sp>
        <p:nvSpPr>
          <p:cNvPr id="5" name="fallback">
            <a:extLst xmlns:a="http://schemas.openxmlformats.org/drawingml/2006/main">
              <a:ext uri="{FF2B5EF4-FFF2-40B4-BE49-F238E27FC236}">
                <a16:creationId xmlns:a16="http://schemas.microsoft.com/office/drawing/2014/main" id="{04C0A0AC-415E-47D1-9A7F-4A0ACA7682AC}"/>
              </a:ext>
            </a:extLst>
          </p:cNvPr>
          <p:cNvSpPr>
            <a:spLocks xmlns:a="http://schemas.openxmlformats.org/drawingml/2006/main" noGrp="1"/>
          </p:cNvSpPr>
          <p:nvPr/>
        </p:nvSpPr>
        <p:spPr>
          <a:xfrm xmlns:a="http://schemas.openxmlformats.org/drawingml/2006/main">
            <a:off x="609600" y="4733925"/>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A2B3A4"/>
                </a:solidFill>
                <a:latin typeface="Arial"/>
                <a:ea typeface="Arial"/>
                <a:cs typeface="Arial"/>
              </a:defRPr>
            </a:pPr>
            <a:r>
              <a:rPr sz="2100" b="0">
                <a:solidFill>
                  <a:srgbClr val="A2B3A4"/>
                </a:solidFill>
                <a:latin typeface="Arial"/>
                <a:ea typeface="Arial"/>
                <a:cs typeface="Arial"/>
              </a:rPr>
              <a:t>2D tactical fallback supports</a:t>
            </a:r>
          </a:p>
          <a:p xmlns:a="http://schemas.openxmlformats.org/drawingml/2006/main">
            <a:pPr>
              <a:defRPr sz="2100" b="0">
                <a:solidFill>
                  <a:srgbClr val="A2B3A4"/>
                </a:solidFill>
                <a:latin typeface="Arial"/>
                <a:ea typeface="Arial"/>
                <a:cs typeface="Arial"/>
              </a:defRPr>
            </a:pPr>
            <a:r>
              <a:rPr sz="2100" b="0">
                <a:solidFill>
                  <a:srgbClr val="A2B3A4"/>
                </a:solidFill>
                <a:latin typeface="Arial"/>
                <a:ea typeface="Arial"/>
                <a:cs typeface="Arial"/>
              </a:rPr>
              <a:t>classification and response practice.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c002909d9c64c93"/>
          <a:stretch xmlns:a="http://schemas.openxmlformats.org/drawingml/2006/main"/>
        </p:blipFill>
        <p:spPr>
          <a:xfrm xmlns:a="http://schemas.openxmlformats.org/drawingml/2006/main">
            <a:off x="7353300" y="2065146"/>
            <a:ext cx="4238625" cy="3165857"/>
          </a:xfrm>
          <a:prstGeom xmlns:a="http://schemas.openxmlformats.org/drawingml/2006/main" prst="rect">
            <a:avLst/>
          </a:prstGeom>
        </p:spPr>
      </p:pic>
      <p:sp>
        <p:nvSpPr>
          <p:cNvPr id="7" name="illustrative">
            <a:extLst xmlns:a="http://schemas.openxmlformats.org/drawingml/2006/main">
              <a:ext uri="{FF2B5EF4-FFF2-40B4-BE49-F238E27FC236}">
                <a16:creationId xmlns:a16="http://schemas.microsoft.com/office/drawing/2014/main" id="{78103D8E-9E27-4909-AA41-C02958AE6DA5}"/>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E6AE85"/>
                </a:solidFill>
                <a:latin typeface="Arial"/>
                <a:ea typeface="Arial"/>
                <a:cs typeface="Arial"/>
              </a:defRPr>
            </a:pPr>
            <a:r>
              <a:rPr sz="1575" b="0">
                <a:solidFill>
                  <a:srgbClr val="E6AE85"/>
                </a:solidFill>
                <a:latin typeface="Arial"/>
                <a:ea typeface="Arial"/>
                <a:cs typeface="Arial"/>
              </a:rPr>
              <a:t>Sensor and effector values are illustrative. Hardware performance still needs team-laptop testing.</a:t>
            </a:r>
          </a:p>
        </p:txBody>
      </p:sp>
    </p:spTree>
    <p:extLst>
      <p:ext uri="{BB962C8B-B14F-4D97-AF65-F5344CB8AC3E}">
        <p14:creationId xmlns:p14="http://schemas.microsoft.com/office/powerpoint/2010/main" val="746579013"/>
      </p:ext>
    </p:extLst>
  </p:cSld>
</p:sld>
</file>

<file path=ppt/slides/slide5.xml><?xml version="1.0" encoding="utf-8"?>
<p:sld xmlns:p="http://schemas.openxmlformats.org/presentationml/2006/main">
  <p:cSld>
    <p:bg>
      <p:bgPr>
        <a:solidFill xmlns:a="http://schemas.openxmlformats.org/drawingml/2006/main">
          <a:srgbClr val="0B1112"/>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A458C90-4460-449B-B859-9859288D8073}"/>
              </a:ext>
            </a:extLst>
          </p:cNvPr>
          <p:cNvSpPr>
            <a:spLocks xmlns:a="http://schemas.openxmlformats.org/drawingml/2006/main" noGrp="1"/>
          </p:cNvSpPr>
          <p:nvPr/>
        </p:nvSpPr>
        <p:spPr>
          <a:xfrm xmlns:a="http://schemas.openxmlformats.org/drawingml/2006/main">
            <a:off x="609600" y="42862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E7EDE6"/>
                </a:solidFill>
                <a:latin typeface="Arial"/>
                <a:ea typeface="Arial"/>
                <a:cs typeface="Arial"/>
              </a:defRPr>
            </a:pPr>
            <a:r>
              <a:rPr sz="3300" b="1">
                <a:solidFill>
                  <a:srgbClr val="E7EDE6"/>
                </a:solidFill>
                <a:latin typeface="Arial"/>
                <a:ea typeface="Arial"/>
                <a:cs typeface="Arial"/>
              </a:rPr>
              <a:t>Impact &amp; Benefits</a:t>
            </a:r>
          </a:p>
        </p:txBody>
      </p:sp>
      <p:sp>
        <p:nvSpPr>
          <p:cNvPr id="2" name="footer">
            <a:extLst xmlns:a="http://schemas.openxmlformats.org/drawingml/2006/main">
              <a:ext uri="{FF2B5EF4-FFF2-40B4-BE49-F238E27FC236}">
                <a16:creationId xmlns:a16="http://schemas.microsoft.com/office/drawing/2014/main" id="{253274E1-14F0-4AE8-BA4B-38902608D38E}"/>
              </a:ext>
            </a:extLst>
          </p:cNvPr>
          <p:cNvSpPr>
            <a:spLocks xmlns:a="http://schemas.openxmlformats.org/drawingml/2006/main" noGrp="1"/>
          </p:cNvSpPr>
          <p:nvPr/>
        </p:nvSpPr>
        <p:spPr>
          <a:xfrm xmlns:a="http://schemas.openxmlformats.org/drawingml/2006/main">
            <a:off x="609600" y="6343650"/>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2B3A4"/>
                </a:solidFill>
                <a:latin typeface="Arial"/>
                <a:ea typeface="Arial"/>
                <a:cs typeface="Arial"/>
              </a:defRPr>
            </a:pPr>
            <a:r>
              <a:rPr sz="1200" b="0">
                <a:solidFill>
                  <a:srgbClr val="A2B3A4"/>
                </a:solidFill>
                <a:latin typeface="Arial"/>
                <a:ea typeface="Arial"/>
                <a:cs typeface="Arial"/>
              </a:rPr>
              <a:t>WhiteList&amp;0     SIH26247     5/6</a:t>
            </a:r>
          </a:p>
        </p:txBody>
      </p:sp>
      <p:sp>
        <p:nvSpPr>
          <p:cNvPr id="3" name="big">
            <a:extLst xmlns:a="http://schemas.openxmlformats.org/drawingml/2006/main">
              <a:ext uri="{FF2B5EF4-FFF2-40B4-BE49-F238E27FC236}">
                <a16:creationId xmlns:a16="http://schemas.microsoft.com/office/drawing/2014/main" id="{AD50B443-A9A0-44E2-A458-CC4876CC6B3B}"/>
              </a:ext>
            </a:extLst>
          </p:cNvPr>
          <p:cNvSpPr>
            <a:spLocks xmlns:a="http://schemas.openxmlformats.org/drawingml/2006/main" noGrp="1"/>
          </p:cNvSpPr>
          <p:nvPr/>
        </p:nvSpPr>
        <p:spPr>
          <a:xfrm xmlns:a="http://schemas.openxmlformats.org/drawingml/2006/main">
            <a:off x="609600" y="1438275"/>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CDF46D"/>
                </a:solidFill>
                <a:latin typeface="Arial"/>
                <a:ea typeface="Arial"/>
                <a:cs typeface="Arial"/>
              </a:defRPr>
            </a:pPr>
            <a:r>
              <a:rPr sz="3300" b="1">
                <a:solidFill>
                  <a:srgbClr val="CDF46D"/>
                </a:solidFill>
                <a:latin typeface="Arial"/>
                <a:ea typeface="Arial"/>
                <a:cs typeface="Arial"/>
              </a:rPr>
              <a:t>Practice reveals the decisions</a:t>
            </a:r>
          </a:p>
          <a:p xmlns:a="http://schemas.openxmlformats.org/drawingml/2006/main">
            <a:pPr>
              <a:defRPr sz="3300" b="1">
                <a:solidFill>
                  <a:srgbClr val="CDF46D"/>
                </a:solidFill>
                <a:latin typeface="Arial"/>
                <a:ea typeface="Arial"/>
                <a:cs typeface="Arial"/>
              </a:defRPr>
            </a:pPr>
            <a:r>
              <a:rPr sz="3300" b="1">
                <a:solidFill>
                  <a:srgbClr val="CDF46D"/>
                </a:solidFill>
                <a:latin typeface="Arial"/>
                <a:ea typeface="Arial"/>
                <a:cs typeface="Arial"/>
              </a:rPr>
              <a:t>that need another repetition</a:t>
            </a:r>
          </a:p>
        </p:txBody>
      </p:sp>
      <p:sp>
        <p:nvSpPr>
          <p:cNvPr id="4" name="training benefits">
            <a:extLst xmlns:a="http://schemas.openxmlformats.org/drawingml/2006/main">
              <a:ext uri="{FF2B5EF4-FFF2-40B4-BE49-F238E27FC236}">
                <a16:creationId xmlns:a16="http://schemas.microsoft.com/office/drawing/2014/main" id="{AB005F35-7070-4ADC-8A6C-497BB5FAD4E4}"/>
              </a:ext>
            </a:extLst>
          </p:cNvPr>
          <p:cNvSpPr>
            <a:spLocks xmlns:a="http://schemas.openxmlformats.org/drawingml/2006/main" noGrp="1"/>
          </p:cNvSpPr>
          <p:nvPr/>
        </p:nvSpPr>
        <p:spPr>
          <a:xfrm xmlns:a="http://schemas.openxmlformats.org/drawingml/2006/main">
            <a:off x="609600" y="29051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E7EDE6"/>
                </a:solidFill>
                <a:latin typeface="Arial"/>
                <a:ea typeface="Arial"/>
                <a:cs typeface="Arial"/>
              </a:defRPr>
            </a:pPr>
            <a:r>
              <a:rPr sz="2325" b="0">
                <a:solidFill>
                  <a:srgbClr val="E7EDE6"/>
                </a:solidFill>
                <a:latin typeface="Arial"/>
                <a:ea typeface="Arial"/>
                <a:cs typeface="Arial"/>
              </a:rPr>
              <a:t>A trainee reviews when a contact became visible,</a:t>
            </a:r>
          </a:p>
          <a:p xmlns:a="http://schemas.openxmlformats.org/drawingml/2006/main">
            <a:pPr>
              <a:defRPr sz="2325" b="0">
                <a:solidFill>
                  <a:srgbClr val="E7EDE6"/>
                </a:solidFill>
                <a:latin typeface="Arial"/>
                <a:ea typeface="Arial"/>
                <a:cs typeface="Arial"/>
              </a:defRPr>
            </a:pPr>
            <a:r>
              <a:rPr sz="2325" b="0">
                <a:solidFill>
                  <a:srgbClr val="E7EDE6"/>
                </a:solidFill>
                <a:latin typeface="Arial"/>
                <a:ea typeface="Arial"/>
                <a:cs typeface="Arial"/>
              </a:rPr>
              <a:t>how they classified it, and why a response worked.</a:t>
            </a:r>
          </a:p>
          <a:p xmlns:a="http://schemas.openxmlformats.org/drawingml/2006/main">
            <a:r>
              <a:t/>
            </a:r>
          </a:p>
          <a:p xmlns:a="http://schemas.openxmlformats.org/drawingml/2006/main">
            <a:pPr>
              <a:defRPr sz="2325" b="0">
                <a:solidFill>
                  <a:srgbClr val="E7EDE6"/>
                </a:solidFill>
                <a:latin typeface="Arial"/>
                <a:ea typeface="Arial"/>
                <a:cs typeface="Arial"/>
              </a:defRPr>
            </a:pPr>
            <a:r>
              <a:rPr sz="2325" b="0">
                <a:solidFill>
                  <a:srgbClr val="E7EDE6"/>
                </a:solidFill>
                <a:latin typeface="Arial"/>
                <a:ea typeface="Arial"/>
                <a:cs typeface="Arial"/>
              </a:rPr>
              <a:t>An instructor sees actual session history</a:t>
            </a:r>
          </a:p>
          <a:p xmlns:a="http://schemas.openxmlformats.org/drawingml/2006/main">
            <a:pPr>
              <a:defRPr sz="2325" b="0">
                <a:solidFill>
                  <a:srgbClr val="E7EDE6"/>
                </a:solidFill>
                <a:latin typeface="Arial"/>
                <a:ea typeface="Arial"/>
                <a:cs typeface="Arial"/>
              </a:defRPr>
            </a:pPr>
            <a:r>
              <a:rPr sz="2325" b="0">
                <a:solidFill>
                  <a:srgbClr val="E7EDE6"/>
                </a:solidFill>
                <a:latin typeface="Arial"/>
                <a:ea typeface="Arial"/>
                <a:cs typeface="Arial"/>
              </a:rPr>
              <a:t>and two observed skill scores for each trainee.</a:t>
            </a:r>
          </a:p>
        </p:txBody>
      </p:sp>
      <p:sp>
        <p:nvSpPr>
          <p:cNvPr id="5" name="validation label">
            <a:extLst xmlns:a="http://schemas.openxmlformats.org/drawingml/2006/main">
              <a:ext uri="{FF2B5EF4-FFF2-40B4-BE49-F238E27FC236}">
                <a16:creationId xmlns:a16="http://schemas.microsoft.com/office/drawing/2014/main" id="{CBBD64E7-6D6C-44DF-9DCB-BD805DA4411F}"/>
              </a:ext>
            </a:extLst>
          </p:cNvPr>
          <p:cNvSpPr>
            <a:spLocks xmlns:a="http://schemas.openxmlformats.org/drawingml/2006/main" noGrp="1"/>
          </p:cNvSpPr>
          <p:nvPr/>
        </p:nvSpPr>
        <p:spPr>
          <a:xfrm xmlns:a="http://schemas.openxmlformats.org/drawingml/2006/main">
            <a:off x="609600" y="5181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E6AE85"/>
                </a:solidFill>
                <a:latin typeface="Arial"/>
                <a:ea typeface="Arial"/>
                <a:cs typeface="Arial"/>
              </a:defRPr>
            </a:pPr>
            <a:r>
              <a:rPr sz="2025" b="1">
                <a:solidFill>
                  <a:srgbClr val="E6AE85"/>
                </a:solidFill>
                <a:latin typeface="Arial"/>
                <a:ea typeface="Arial"/>
                <a:cs typeface="Arial"/>
              </a:rPr>
              <a:t>Validation before operational use</a:t>
            </a:r>
          </a:p>
        </p:txBody>
      </p:sp>
      <p:sp>
        <p:nvSpPr>
          <p:cNvPr id="6" name="validation">
            <a:extLst xmlns:a="http://schemas.openxmlformats.org/drawingml/2006/main">
              <a:ext uri="{FF2B5EF4-FFF2-40B4-BE49-F238E27FC236}">
                <a16:creationId xmlns:a16="http://schemas.microsoft.com/office/drawing/2014/main" id="{0906AC21-60C5-41E8-A9BB-F3EED85343A9}"/>
              </a:ext>
            </a:extLst>
          </p:cNvPr>
          <p:cNvSpPr>
            <a:spLocks xmlns:a="http://schemas.openxmlformats.org/drawingml/2006/main" noGrp="1"/>
          </p:cNvSpPr>
          <p:nvPr/>
        </p:nvSpPr>
        <p:spPr>
          <a:xfrm xmlns:a="http://schemas.openxmlformats.org/drawingml/2006/main">
            <a:off x="609600" y="56864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A2B3A4"/>
                </a:solidFill>
                <a:latin typeface="Arial"/>
                <a:ea typeface="Arial"/>
                <a:cs typeface="Arial"/>
              </a:defRPr>
            </a:pPr>
            <a:r>
              <a:rPr sz="1800" b="0">
                <a:solidFill>
                  <a:srgbClr val="A2B3A4"/>
                </a:solidFill>
                <a:latin typeface="Arial"/>
                <a:ea typeface="Arial"/>
                <a:cs typeface="Arial"/>
              </a:rPr>
              <a:t>Subject-matter review, laptop benchmarks and a trainee pilot.</a:t>
            </a:r>
          </a:p>
          <a:p xmlns:a="http://schemas.openxmlformats.org/drawingml/2006/main">
            <a:pPr>
              <a:defRPr sz="1800" b="0">
                <a:solidFill>
                  <a:srgbClr val="A2B3A4"/>
                </a:solidFill>
                <a:latin typeface="Arial"/>
                <a:ea typeface="Arial"/>
                <a:cs typeface="Arial"/>
              </a:defRPr>
            </a:pPr>
            <a:r>
              <a:rPr sz="1800" b="0">
                <a:solidFill>
                  <a:srgbClr val="A2B3A4"/>
                </a:solidFill>
                <a:latin typeface="Arial"/>
                <a:ea typeface="Arial"/>
                <a:cs typeface="Arial"/>
              </a:rPr>
              <a:t>Training efficacy remains a hypothesis until measured.</a:t>
            </a:r>
          </a:p>
        </p:txBody>
      </p:sp>
    </p:spTree>
    <p:extLst>
      <p:ext uri="{BB962C8B-B14F-4D97-AF65-F5344CB8AC3E}">
        <p14:creationId xmlns:p14="http://schemas.microsoft.com/office/powerpoint/2010/main" val="1495398355"/>
      </p:ext>
    </p:extLst>
  </p:cSld>
</p:sld>
</file>

<file path=ppt/slides/slide6.xml><?xml version="1.0" encoding="utf-8"?>
<p:sld xmlns:p="http://schemas.openxmlformats.org/presentationml/2006/main">
  <p:cSld>
    <p:bg>
      <p:bgPr>
        <a:solidFill xmlns:a="http://schemas.openxmlformats.org/drawingml/2006/main">
          <a:srgbClr val="0B1112"/>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5280AF3-9FFC-4798-846C-E8C9780E668A}"/>
              </a:ext>
            </a:extLst>
          </p:cNvPr>
          <p:cNvSpPr>
            <a:spLocks xmlns:a="http://schemas.openxmlformats.org/drawingml/2006/main" noGrp="1"/>
          </p:cNvSpPr>
          <p:nvPr/>
        </p:nvSpPr>
        <p:spPr>
          <a:xfrm xmlns:a="http://schemas.openxmlformats.org/drawingml/2006/main">
            <a:off x="609600" y="428625"/>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E7EDE6"/>
                </a:solidFill>
                <a:latin typeface="Arial"/>
                <a:ea typeface="Arial"/>
                <a:cs typeface="Arial"/>
              </a:defRPr>
            </a:pPr>
            <a:r>
              <a:rPr sz="3300" b="1">
                <a:solidFill>
                  <a:srgbClr val="E7EDE6"/>
                </a:solidFill>
                <a:latin typeface="Arial"/>
                <a:ea typeface="Arial"/>
                <a:cs typeface="Arial"/>
              </a:rPr>
              <a:t>Research &amp; References</a:t>
            </a:r>
          </a:p>
        </p:txBody>
      </p:sp>
      <p:sp>
        <p:nvSpPr>
          <p:cNvPr id="2" name="footer">
            <a:extLst xmlns:a="http://schemas.openxmlformats.org/drawingml/2006/main">
              <a:ext uri="{FF2B5EF4-FFF2-40B4-BE49-F238E27FC236}">
                <a16:creationId xmlns:a16="http://schemas.microsoft.com/office/drawing/2014/main" id="{B6D25369-D65E-47E2-AEE8-529C39296402}"/>
              </a:ext>
            </a:extLst>
          </p:cNvPr>
          <p:cNvSpPr>
            <a:spLocks xmlns:a="http://schemas.openxmlformats.org/drawingml/2006/main" noGrp="1"/>
          </p:cNvSpPr>
          <p:nvPr/>
        </p:nvSpPr>
        <p:spPr>
          <a:xfrm xmlns:a="http://schemas.openxmlformats.org/drawingml/2006/main">
            <a:off x="609600" y="6343650"/>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A2B3A4"/>
                </a:solidFill>
                <a:latin typeface="Arial"/>
                <a:ea typeface="Arial"/>
                <a:cs typeface="Arial"/>
              </a:defRPr>
            </a:pPr>
            <a:r>
              <a:rPr sz="1200" b="0">
                <a:solidFill>
                  <a:srgbClr val="A2B3A4"/>
                </a:solidFill>
                <a:latin typeface="Arial"/>
                <a:ea typeface="Arial"/>
                <a:cs typeface="Arial"/>
              </a:rPr>
              <a:t>WhiteList&amp;0     SIH26247     6/6</a:t>
            </a:r>
          </a:p>
        </p:txBody>
      </p:sp>
      <p:sp>
        <p:nvSpPr>
          <p:cNvPr id="3" name="ref0">
            <a:extLst xmlns:a="http://schemas.openxmlformats.org/drawingml/2006/main">
              <a:ext uri="{FF2B5EF4-FFF2-40B4-BE49-F238E27FC236}">
                <a16:creationId xmlns:a16="http://schemas.microsoft.com/office/drawing/2014/main" id="{0B4BF8DB-3FD3-4558-8E89-C8ACAB59B100}"/>
              </a:ext>
            </a:extLst>
          </p:cNvPr>
          <p:cNvSpPr>
            <a:spLocks xmlns:a="http://schemas.openxmlformats.org/drawingml/2006/main" noGrp="1"/>
          </p:cNvSpPr>
          <p:nvPr/>
        </p:nvSpPr>
        <p:spPr>
          <a:xfrm xmlns:a="http://schemas.openxmlformats.org/drawingml/2006/main">
            <a:off x="609600" y="14954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CDF46D"/>
                </a:solidFill>
                <a:latin typeface="Arial"/>
                <a:ea typeface="Arial"/>
                <a:cs typeface="Arial"/>
              </a:defRPr>
            </a:pPr>
            <a:r>
              <a:rPr sz="2175" b="1">
                <a:solidFill>
                  <a:srgbClr val="CDF46D"/>
                </a:solidFill>
                <a:latin typeface="Arial"/>
                <a:ea typeface="Arial"/>
                <a:cs typeface="Arial"/>
              </a:rPr>
              <a:t>Problem requirements</a:t>
            </a:r>
          </a:p>
        </p:txBody>
      </p:sp>
      <p:sp>
        <p:nvSpPr>
          <p:cNvPr id="4" name="ref detail0">
            <a:extLst xmlns:a="http://schemas.openxmlformats.org/drawingml/2006/main">
              <a:ext uri="{FF2B5EF4-FFF2-40B4-BE49-F238E27FC236}">
                <a16:creationId xmlns:a16="http://schemas.microsoft.com/office/drawing/2014/main" id="{5BB1D6DF-8BDB-4BD6-833F-50AED894D697}"/>
              </a:ext>
            </a:extLst>
          </p:cNvPr>
          <p:cNvSpPr>
            <a:spLocks xmlns:a="http://schemas.openxmlformats.org/drawingml/2006/main" noGrp="1"/>
          </p:cNvSpPr>
          <p:nvPr/>
        </p:nvSpPr>
        <p:spPr>
          <a:xfrm xmlns:a="http://schemas.openxmlformats.org/drawingml/2006/main">
            <a:off x="609600" y="1905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E7EDE6"/>
                </a:solidFill>
                <a:latin typeface="Arial"/>
                <a:ea typeface="Arial"/>
                <a:cs typeface="Arial"/>
              </a:defRPr>
            </a:pPr>
            <a:r>
              <a:rPr sz="1875" b="0">
                <a:solidFill>
                  <a:srgbClr val="E7EDE6"/>
                </a:solidFill>
                <a:latin typeface="Arial"/>
                <a:ea typeface="Arial"/>
                <a:cs typeface="Arial"/>
              </a:rPr>
              <a:t>SIH26247 statement supplied by the team</a:t>
            </a:r>
          </a:p>
        </p:txBody>
      </p:sp>
      <p:sp>
        <p:nvSpPr>
          <p:cNvPr id="5" name="ref1">
            <a:extLst xmlns:a="http://schemas.openxmlformats.org/drawingml/2006/main">
              <a:ext uri="{FF2B5EF4-FFF2-40B4-BE49-F238E27FC236}">
                <a16:creationId xmlns:a16="http://schemas.microsoft.com/office/drawing/2014/main" id="{529B95A7-2E6B-4FD1-88E9-C093B9DAD1C2}"/>
              </a:ext>
            </a:extLst>
          </p:cNvPr>
          <p:cNvSpPr>
            <a:spLocks xmlns:a="http://schemas.openxmlformats.org/drawingml/2006/main" noGrp="1"/>
          </p:cNvSpPr>
          <p:nvPr/>
        </p:nvSpPr>
        <p:spPr>
          <a:xfrm xmlns:a="http://schemas.openxmlformats.org/drawingml/2006/main">
            <a:off x="609600" y="24479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CDF46D"/>
                </a:solidFill>
                <a:latin typeface="Arial"/>
                <a:ea typeface="Arial"/>
                <a:cs typeface="Arial"/>
              </a:defRPr>
            </a:pPr>
            <a:r>
              <a:rPr sz="2175" b="1">
                <a:solidFill>
                  <a:srgbClr val="CDF46D"/>
                </a:solidFill>
                <a:latin typeface="Arial"/>
                <a:ea typeface="Arial"/>
                <a:cs typeface="Arial"/>
              </a:rPr>
              <a:t>3D interface</a:t>
            </a:r>
          </a:p>
        </p:txBody>
      </p:sp>
      <p:sp>
        <p:nvSpPr>
          <p:cNvPr id="6" name="ref detail1">
            <a:extLst xmlns:a="http://schemas.openxmlformats.org/drawingml/2006/main">
              <a:ext uri="{FF2B5EF4-FFF2-40B4-BE49-F238E27FC236}">
                <a16:creationId xmlns:a16="http://schemas.microsoft.com/office/drawing/2014/main" id="{70951DEE-D793-4161-ACB5-08C6CF24AB87}"/>
              </a:ext>
            </a:extLst>
          </p:cNvPr>
          <p:cNvSpPr>
            <a:spLocks xmlns:a="http://schemas.openxmlformats.org/drawingml/2006/main" noGrp="1"/>
          </p:cNvSpPr>
          <p:nvPr/>
        </p:nvSpPr>
        <p:spPr>
          <a:xfrm xmlns:a="http://schemas.openxmlformats.org/drawingml/2006/main">
            <a:off x="609600" y="2857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E7EDE6"/>
                </a:solidFill>
                <a:latin typeface="Arial"/>
                <a:ea typeface="Arial"/>
                <a:cs typeface="Arial"/>
              </a:defRPr>
            </a:pPr>
            <a:r>
              <a:rPr sz="1875" b="0">
                <a:solidFill>
                  <a:srgbClr val="E7EDE6"/>
                </a:solidFill>
                <a:latin typeface="Arial"/>
                <a:ea typeface="Arial"/>
                <a:cs typeface="Arial"/>
              </a:rPr>
              <a:t>React Three Fiber installation documentation</a:t>
            </a:r>
          </a:p>
        </p:txBody>
      </p:sp>
      <p:sp>
        <p:nvSpPr>
          <p:cNvPr id="7" name="ref2">
            <a:extLst xmlns:a="http://schemas.openxmlformats.org/drawingml/2006/main">
              <a:ext uri="{FF2B5EF4-FFF2-40B4-BE49-F238E27FC236}">
                <a16:creationId xmlns:a16="http://schemas.microsoft.com/office/drawing/2014/main" id="{21E1918A-24A8-45E8-B50E-CAACEE46FFAE}"/>
              </a:ext>
            </a:extLst>
          </p:cNvPr>
          <p:cNvSpPr>
            <a:spLocks xmlns:a="http://schemas.openxmlformats.org/drawingml/2006/main" noGrp="1"/>
          </p:cNvSpPr>
          <p:nvPr/>
        </p:nvSpPr>
        <p:spPr>
          <a:xfrm xmlns:a="http://schemas.openxmlformats.org/drawingml/2006/main">
            <a:off x="609600" y="34004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CDF46D"/>
                </a:solidFill>
                <a:latin typeface="Arial"/>
                <a:ea typeface="Arial"/>
                <a:cs typeface="Arial"/>
              </a:defRPr>
            </a:pPr>
            <a:r>
              <a:rPr sz="2175" b="1">
                <a:solidFill>
                  <a:srgbClr val="CDF46D"/>
                </a:solidFill>
                <a:latin typeface="Arial"/>
                <a:ea typeface="Arial"/>
                <a:cs typeface="Arial"/>
              </a:rPr>
              <a:t>Local API and application serving</a:t>
            </a:r>
          </a:p>
        </p:txBody>
      </p:sp>
      <p:sp>
        <p:nvSpPr>
          <p:cNvPr id="8" name="ref detail2">
            <a:extLst xmlns:a="http://schemas.openxmlformats.org/drawingml/2006/main">
              <a:ext uri="{FF2B5EF4-FFF2-40B4-BE49-F238E27FC236}">
                <a16:creationId xmlns:a16="http://schemas.microsoft.com/office/drawing/2014/main" id="{B4EF18B7-DDB0-4348-9724-5231546DF1D3}"/>
              </a:ext>
            </a:extLst>
          </p:cNvPr>
          <p:cNvSpPr>
            <a:spLocks xmlns:a="http://schemas.openxmlformats.org/drawingml/2006/main" noGrp="1"/>
          </p:cNvSpPr>
          <p:nvPr/>
        </p:nvSpPr>
        <p:spPr>
          <a:xfrm xmlns:a="http://schemas.openxmlformats.org/drawingml/2006/main">
            <a:off x="609600" y="3810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E7EDE6"/>
                </a:solidFill>
                <a:latin typeface="Arial"/>
                <a:ea typeface="Arial"/>
                <a:cs typeface="Arial"/>
              </a:defRPr>
            </a:pPr>
            <a:r>
              <a:rPr sz="1875" b="0">
                <a:solidFill>
                  <a:srgbClr val="E7EDE6"/>
                </a:solidFill>
                <a:latin typeface="Arial"/>
                <a:ea typeface="Arial"/>
                <a:cs typeface="Arial"/>
              </a:rPr>
              <a:t>FastAPI static-files documentation</a:t>
            </a:r>
          </a:p>
        </p:txBody>
      </p:sp>
      <p:sp>
        <p:nvSpPr>
          <p:cNvPr id="9" name="ref3">
            <a:extLst xmlns:a="http://schemas.openxmlformats.org/drawingml/2006/main">
              <a:ext uri="{FF2B5EF4-FFF2-40B4-BE49-F238E27FC236}">
                <a16:creationId xmlns:a16="http://schemas.microsoft.com/office/drawing/2014/main" id="{8EE27C1F-0400-40D4-8B42-6F6FB64064E5}"/>
              </a:ext>
            </a:extLst>
          </p:cNvPr>
          <p:cNvSpPr>
            <a:spLocks xmlns:a="http://schemas.openxmlformats.org/drawingml/2006/main" noGrp="1"/>
          </p:cNvSpPr>
          <p:nvPr/>
        </p:nvSpPr>
        <p:spPr>
          <a:xfrm xmlns:a="http://schemas.openxmlformats.org/drawingml/2006/main">
            <a:off x="609600" y="43529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CDF46D"/>
                </a:solidFill>
                <a:latin typeface="Arial"/>
                <a:ea typeface="Arial"/>
                <a:cs typeface="Arial"/>
              </a:defRPr>
            </a:pPr>
            <a:r>
              <a:rPr sz="2175" b="1">
                <a:solidFill>
                  <a:srgbClr val="CDF46D"/>
                </a:solidFill>
                <a:latin typeface="Arial"/>
                <a:ea typeface="Arial"/>
                <a:cs typeface="Arial"/>
              </a:rPr>
              <a:t>Background simulation and device storage</a:t>
            </a:r>
          </a:p>
        </p:txBody>
      </p:sp>
      <p:sp>
        <p:nvSpPr>
          <p:cNvPr id="10" name="ref detail3">
            <a:extLst xmlns:a="http://schemas.openxmlformats.org/drawingml/2006/main">
              <a:ext uri="{FF2B5EF4-FFF2-40B4-BE49-F238E27FC236}">
                <a16:creationId xmlns:a16="http://schemas.microsoft.com/office/drawing/2014/main" id="{A231C0C4-85A7-44FD-A63D-FB1A8C3A0636}"/>
              </a:ext>
            </a:extLst>
          </p:cNvPr>
          <p:cNvSpPr>
            <a:spLocks xmlns:a="http://schemas.openxmlformats.org/drawingml/2006/main" noGrp="1"/>
          </p:cNvSpPr>
          <p:nvPr/>
        </p:nvSpPr>
        <p:spPr>
          <a:xfrm xmlns:a="http://schemas.openxmlformats.org/drawingml/2006/main">
            <a:off x="609600" y="4762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E7EDE6"/>
                </a:solidFill>
                <a:latin typeface="Arial"/>
                <a:ea typeface="Arial"/>
                <a:cs typeface="Arial"/>
              </a:defRPr>
            </a:pPr>
            <a:r>
              <a:rPr sz="1875" b="0">
                <a:solidFill>
                  <a:srgbClr val="E7EDE6"/>
                </a:solidFill>
                <a:latin typeface="Arial"/>
                <a:ea typeface="Arial"/>
                <a:cs typeface="Arial"/>
              </a:rPr>
              <a:t>MDN Web Workers and IndexedDB documentation</a:t>
            </a:r>
          </a:p>
        </p:txBody>
      </p:sp>
      <p:sp>
        <p:nvSpPr>
          <p:cNvPr id="11" name="disclosure">
            <a:extLst xmlns:a="http://schemas.openxmlformats.org/drawingml/2006/main">
              <a:ext uri="{FF2B5EF4-FFF2-40B4-BE49-F238E27FC236}">
                <a16:creationId xmlns:a16="http://schemas.microsoft.com/office/drawing/2014/main" id="{19A7EE4D-731D-4C84-AC51-6822BE5A2F9E}"/>
              </a:ext>
            </a:extLst>
          </p:cNvPr>
          <p:cNvSpPr>
            <a:spLocks xmlns:a="http://schemas.openxmlformats.org/drawingml/2006/main" noGrp="1"/>
          </p:cNvSpPr>
          <p:nvPr/>
        </p:nvSpPr>
        <p:spPr>
          <a:xfrm xmlns:a="http://schemas.openxmlformats.org/drawingml/2006/main">
            <a:off x="609600" y="57912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E6AE85"/>
                </a:solidFill>
                <a:latin typeface="Arial"/>
                <a:ea typeface="Arial"/>
                <a:cs typeface="Arial"/>
              </a:defRPr>
            </a:pPr>
            <a:r>
              <a:rPr sz="1725" b="0">
                <a:solidFill>
                  <a:srgbClr val="E6AE85"/>
                </a:solidFill>
                <a:latin typeface="Arial"/>
                <a:ea typeface="Arial"/>
                <a:cs typeface="Arial"/>
              </a:rPr>
              <a:t>All example signatures and response rules require subject-matter validation.</a:t>
            </a:r>
          </a:p>
        </p:txBody>
      </p:sp>
    </p:spTree>
    <p:extLst>
      <p:ext uri="{BB962C8B-B14F-4D97-AF65-F5344CB8AC3E}">
        <p14:creationId xmlns:p14="http://schemas.microsoft.com/office/powerpoint/2010/main" val="2104785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2026-10-02T18:33:13.6050000Z</dcterms:created>
  <dcterms:modified xsi:type="dcterms:W3CDTF">2026-10-02T18:33:13.6050000Z</dcterms:modified>
</coreProperties>
</file>