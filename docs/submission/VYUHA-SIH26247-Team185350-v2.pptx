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3dc899d96043cc" /><Relationship Type="http://schemas.openxmlformats.org/officeDocument/2006/relationships/extended-properties" Target="/docProps/app.xml" Id="Rc82ed714aa55475c" /><Relationship Type="http://schemas.openxmlformats.org/officeDocument/2006/relationships/officeDocument" Target="/ppt/presentation.xml" Id="Re7a4112c09c64f4b" /></Relationships>
</file>

<file path=ppt/presentation.xml><?xml version="1.0" encoding="utf-8"?>
<p:presentation xmlns:p="http://schemas.openxmlformats.org/presentationml/2006/main">
  <p:sldMasterIdLst>
    <p:sldMasterId xmlns:r="http://schemas.openxmlformats.org/officeDocument/2006/relationships" id="2147483648" r:id="Rba144e0c395044e1"/>
  </p:sldMasterIdLst>
  <p:notesMasterIdLst>
    <p:notesMasterId xmlns:r="http://schemas.openxmlformats.org/officeDocument/2006/relationships" r:id="R9e0479696cc647c2"/>
  </p:notesMasterIdLst>
  <p:sldIdLst>
    <p:sldId xmlns:r="http://schemas.openxmlformats.org/officeDocument/2006/relationships" id="256" r:id="Rfd353f2070c24925"/>
    <p:sldId xmlns:r="http://schemas.openxmlformats.org/officeDocument/2006/relationships" id="257" r:id="R98f82df5c0c646ed"/>
    <p:sldId xmlns:r="http://schemas.openxmlformats.org/officeDocument/2006/relationships" id="258" r:id="Rfed8efacb8fa4ea4"/>
    <p:sldId xmlns:r="http://schemas.openxmlformats.org/officeDocument/2006/relationships" id="259" r:id="R2dcd88a8f5124916"/>
    <p:sldId xmlns:r="http://schemas.openxmlformats.org/officeDocument/2006/relationships" id="260" r:id="R338617409a344b5a"/>
    <p:sldId xmlns:r="http://schemas.openxmlformats.org/officeDocument/2006/relationships" id="261" r:id="Rd25aef8913cf4d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0747b969af448c3" /><Relationship Type="http://schemas.openxmlformats.org/officeDocument/2006/relationships/slideMaster" Target="/ppt/slideMasters/slideMaster1.xml" Id="Rba144e0c395044e1" /><Relationship Type="http://schemas.openxmlformats.org/officeDocument/2006/relationships/notesMaster" Target="/ppt/notesMasters/notesMaster1.xml" Id="R9e0479696cc647c2" /><Relationship Type="http://schemas.openxmlformats.org/officeDocument/2006/relationships/presProps" Target="/ppt/presProps.xml" Id="Rf36182fe10a64732" /><Relationship Type="http://schemas.openxmlformats.org/officeDocument/2006/relationships/viewProps" Target="/ppt/viewProps.xml" Id="R8c7c7c25900c4066" /><Relationship Type="http://schemas.openxmlformats.org/officeDocument/2006/relationships/tableStyles" Target="/ppt/tableStyles.xml" Id="Ra1fcdc2fe47b42b9" /><Relationship Type="http://schemas.openxmlformats.org/officeDocument/2006/relationships/slide" Target="/ppt/slides/slide1.xml" Id="Rfd353f2070c24925" /><Relationship Type="http://schemas.openxmlformats.org/officeDocument/2006/relationships/slide" Target="/ppt/slides/slide2.xml" Id="R98f82df5c0c646ed" /><Relationship Type="http://schemas.openxmlformats.org/officeDocument/2006/relationships/slide" Target="/ppt/slides/slide3.xml" Id="Rfed8efacb8fa4ea4" /><Relationship Type="http://schemas.openxmlformats.org/officeDocument/2006/relationships/slide" Target="/ppt/slides/slide4.xml" Id="R2dcd88a8f5124916" /><Relationship Type="http://schemas.openxmlformats.org/officeDocument/2006/relationships/slide" Target="/ppt/slides/slide5.xml" Id="R338617409a344b5a" /><Relationship Type="http://schemas.openxmlformats.org/officeDocument/2006/relationships/slide" Target="/ppt/slides/slide6.xml" Id="Rd25aef8913cf4d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0a098324ca4e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967023ea364e35" /><Relationship Type="http://schemas.openxmlformats.org/officeDocument/2006/relationships/notesMaster" Target="/ppt/notesMasters/notesMaster1.xml" Id="R55285323fcf943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8b8c6d81354bf4" /><Relationship Type="http://schemas.openxmlformats.org/officeDocument/2006/relationships/notesMaster" Target="/ppt/notesMasters/notesMaster1.xml" Id="R2624dfca80dc4f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30b2ca19024fe8" /><Relationship Type="http://schemas.openxmlformats.org/officeDocument/2006/relationships/notesMaster" Target="/ppt/notesMasters/notesMaster1.xml" Id="R792571af6b1348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e3ba20515648f4" /><Relationship Type="http://schemas.openxmlformats.org/officeDocument/2006/relationships/notesMaster" Target="/ppt/notesMasters/notesMaster1.xml" Id="R05e23bd769e640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4e57d20aaf40a5" /><Relationship Type="http://schemas.openxmlformats.org/officeDocument/2006/relationships/notesMaster" Target="/ppt/notesMasters/notesMaster1.xml" Id="R31069a07b1f94f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36e1a1dde54dbd" /><Relationship Type="http://schemas.openxmlformats.org/officeDocument/2006/relationships/notesMaster" Target="/ppt/notesMasters/notesMaster1.xml" Id="Re1cd2816470049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metadata supplied by the user: Software, Team ID185350, WhiteList&amp;0. College and member names omitted at explicit request. Official PS: https://sih.gov.in/sih2026PS . The page visually renders the first word as Al-Enabled; AI-Enabled follows the problem meaning and supplied plan. Demonstration screenshot uses a synthetic DEMO-01 identity, not operational soldiers. Runtime models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Capability statuses and scopes: docs/feature-manifest.json. VALIDATED means listed prototype checks, not operational certification. Recorded practice, synthetic learner evidence and evaluation tooling are EXPERIMENTAL; local audio IMPLEMENTED; crew/live feeds/VR/rain/production identity/calibrated military signatures DEFERRED. No learning efficacy or real doctrine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Arrow loop shows browser actions → deterministic Worker → local authoritative server → persisted sessions/outcomes → review → profile/next recommendation. Ghost deterministic rules, no LLM. Advanced prioritisation = auditable pair agreement × engagement coverage; original Night Watch preserves historical timely-resolution node. Early end preserves disclosed75s scoring projection; available evidence is distinct from ground truth. Sources: https://developer.mozilla.org/en-US/docs/Web/API/Web_Workers_API/Using_web_workers ; https://fastapi.tiangolo.com/tutorial/static-files/ ; https://arxiv.org/abs/1707.02038 . Local implementation is authoritative for the specific design, rather than these references proving efficacy.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Final regression receipt docs/qa-stage7/regression.json:134/44/312/build22assets. Existing Starlette/httpx and large Three.js chunk warnings remain. Performance is prior Stage6 measured evidence carried into a source-compatible release; no simulation/scoring changes. Six-client loopback median/p95ms completion83.32/176.74; dashboard113.74/393.21. M1andAndroid20-second bounded tests are not sustained certification; AndroidAutoenabled. Dedicated physical WAN-off/LAN-on validation was not completed before submission. Multi-device LAN operation, local asset serving, process-outage recovery and queued-event resynchronization were validated separately. Exception not failed architecture and not waiver of other checks.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Experiment source: docs/qa-stage6/experiment-config.json, experiment-results.json and full trajectories. Production Thompson selector/template/RedForce vs uniform random focus/template; sameBeta difficulty rule, paired seeds/initial hidden probabilities/uniforms and common abstract focused learning law. Hidden competence distinct from reportedBetaestimates. No human efficacy claim, causal operational claim or statistically established superiority. Table rounds mean values to2decimalpercent. Canonical feature manifest marks experiment/evaluation EXPERIMENTAL and formalhumanfieldstudy DEFERRED.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checked3Oct2026: https://sih.gov.in/sih2026PS ; https://sih.gov.in/letters/2026/SIH2026-IDEA-Presentation-Format.pptx ; https://arxiv.org/abs/1707.02038 ; https://developer.mozilla.org/en-US/docs/Web/API/Web_Workers_API/Using_web_workers ; https://fastapi.tiangolo.com/tutorial/static-files/ . Repo is private as requested; independent review uses supplied source/evidence archive. Portal upload format PDF,max6slidesincltitle per officialtemplate. User target4Oct; livePSpage says5Oct,olderpublicguidelinePDF30Sept. Deadline discrepancy is retained in claim audit; do not treat olderPDFdate as current.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0ffd6895f241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13c104a24341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078cc890604f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4316db58c84c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2d4791136249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6a81503ac7417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f0b9f489c0946f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600b93578c479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e9129350231437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1c2cfc2a1174d7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f2e2352cccf49d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C36AE0A-6066-464F-9E23-B7EAAE97EC8A}"/>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F69B4E86-C6BE-417D-A7A6-1321E95EFACB}"/>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6ECE494-DFBE-4D2D-9D3B-8302932B53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E6527DFE-83F8-4565-9904-3AA8ACD5F3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2202C26-7A73-4670-8704-48669BC0EF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2129D1-7AE5-4B95-9A8C-96CC9DC2AC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67EA89A-111A-41C6-A86D-98850BEC81B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FAB359A-93AD-4C3C-ABAF-7BF66DDB69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DE0ED78C-3419-4532-9CCD-0ED1B193F8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EA662E3-3529-4FC6-8D03-6E29B21E90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9CE063-D12C-484F-B164-5CFF5C98C87C}"/>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0AC140C-4B3F-4373-9450-26EC402523EB}"/>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B19361D-A2E4-43DC-9AE1-D607D244DB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92DA9D87-B60E-48C2-8BCD-E3BD76FD39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BE757E8-161D-47E5-AFB6-5660009FA5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994EAC-594D-44B6-8D56-31FFEF4396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8F1C43A-D318-4CAF-A375-DCB8BA631F70}"/>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817B92D-DB51-440F-9BD7-101B4D138551}"/>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1B53D03-CA3E-4674-8B49-B9AB7846DE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73C8B2FD-A27D-45F1-AF5E-593367C827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1F871888-8079-4A9D-9D38-F2791D21A8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AEAD6A-47B1-47AC-9327-9C49EA14CD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B957B96-C868-49BA-A00C-DD47BAF3121B}"/>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8995AA7-DEEC-4491-9BE8-89EB14837B6C}"/>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D8935AE-8688-4ED5-B09E-35AEE265C6F4}"/>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3A25E95-19AC-4BCD-9C7F-F084E29EF9A1}"/>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F39F289D-594B-4178-A94A-6AA17B2756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D3326664-C950-49B1-B0FA-F0D804ABD5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B0807F4E-D48B-4980-BB56-AB2C5F2FCA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084F5A-5C1E-4289-B960-EB4E1E48CF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25E9A755-B522-4983-8D74-162D981086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BA53F4C5-5DAE-4609-8225-5891A085B2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C9ED4862-6B17-4141-B866-EE4C569642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B1D28D39-893D-4C3E-BC56-690DAF9445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48CB6AB8-20B9-43B3-9683-D510B1D467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C160917-ADC0-457B-8ACD-B53056946B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6C24EC-0461-470E-A99E-9870FC1A4622}"/>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88D3EF2-3C07-4383-8526-4751757D6D5C}"/>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626C6FB-DC15-4AA6-807D-6182C553DA90}"/>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0FEDE65-D73F-428E-92FB-19B7F82346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4143C936-AC25-41F4-BEF9-EF8F6B4433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FCC4162-91E6-4924-A0D2-3FDD462B37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288D43-43CB-4913-AE79-4CD0D64105F8}"/>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A804592-D87D-40CB-A5CA-E677B1646E87}"/>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40A4618A-C37E-42DA-9277-18660EFD2BC5}"/>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4B957CB-0B50-43D6-AC0B-8B4C2E0441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1BB2541C-64F2-4025-B34D-884F522553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0E5AEF8-2F58-4FF7-9071-4E1968B895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31FFD7-ABE0-4BFA-B4E2-7434BCFD42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7EA27AD-4F78-4A46-B77E-EAABB32AA42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79AA935-76D5-4188-8349-A826C7116C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517CF92-FDF5-4D79-907B-39D7D8607D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3740D65-BD95-4FDB-8688-7FDD743980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41BC90-B47A-4CAF-B2A4-E42F0F9FAFD7}"/>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28C5324-0C9B-49E0-BF26-53ECA0DC49FE}"/>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27735C4-0C2A-4A0A-A4AE-AA1408D8C4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940DD51D-F836-46AC-9652-99A34DACCF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68E10A5-A197-4E86-AC3C-408A8FE587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ae0a81271d4008" /><Relationship Type="http://schemas.openxmlformats.org/officeDocument/2006/relationships/slideLayout" Target="/ppt/slideLayouts/slideLayout1.xml" Id="Rf8e12a812ee042b8" /><Relationship Type="http://schemas.openxmlformats.org/officeDocument/2006/relationships/slideLayout" Target="/ppt/slideLayouts/slideLayout2.xml" Id="R759b8142b0554640" /><Relationship Type="http://schemas.openxmlformats.org/officeDocument/2006/relationships/slideLayout" Target="/ppt/slideLayouts/slideLayout3.xml" Id="Re4a4399da9224a75" /><Relationship Type="http://schemas.openxmlformats.org/officeDocument/2006/relationships/slideLayout" Target="/ppt/slideLayouts/slideLayout4.xml" Id="R67986b88c0f0440b" /><Relationship Type="http://schemas.openxmlformats.org/officeDocument/2006/relationships/slideLayout" Target="/ppt/slideLayouts/slideLayout5.xml" Id="R910abae62b2e4c36" /><Relationship Type="http://schemas.openxmlformats.org/officeDocument/2006/relationships/slideLayout" Target="/ppt/slideLayouts/slideLayout6.xml" Id="Rf38fb61e10fb477c" /><Relationship Type="http://schemas.openxmlformats.org/officeDocument/2006/relationships/slideLayout" Target="/ppt/slideLayouts/slideLayout7.xml" Id="Ref810764d8424a90" /><Relationship Type="http://schemas.openxmlformats.org/officeDocument/2006/relationships/slideLayout" Target="/ppt/slideLayouts/slideLayout8.xml" Id="R4ae3153db6bd4d0b" /><Relationship Type="http://schemas.openxmlformats.org/officeDocument/2006/relationships/slideLayout" Target="/ppt/slideLayouts/slideLayout9.xml" Id="R50eb7c4d0cbe49ff" /><Relationship Type="http://schemas.openxmlformats.org/officeDocument/2006/relationships/slideLayout" Target="/ppt/slideLayouts/slideLayout10.xml" Id="R67c409e9a0094db4" /><Relationship Type="http://schemas.openxmlformats.org/officeDocument/2006/relationships/slideLayout" Target="/ppt/slideLayouts/slideLayout11.xml" Id="Rc4da9a0b80e64a2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ECBAC378-B6DC-4DD7-AED4-565FDA7750F7}"/>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C9A94298-D7A3-443E-8D18-EC9E7DBDF813}"/>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B09B6E8-11A9-43EA-B913-B00DE8E708D7}"/>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72A5A207-E7BF-42AD-84D1-6C4CC9AA9313}"/>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50A5C9B-41C9-460C-B35C-E872389B0EC3}"/>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e12a812ee042b8"/>
    <p:sldLayoutId xmlns:r="http://schemas.openxmlformats.org/officeDocument/2006/relationships" id="2147483650" r:id="R759b8142b0554640"/>
    <p:sldLayoutId xmlns:r="http://schemas.openxmlformats.org/officeDocument/2006/relationships" id="2147483651" r:id="Re4a4399da9224a75"/>
    <p:sldLayoutId xmlns:r="http://schemas.openxmlformats.org/officeDocument/2006/relationships" id="2147483652" r:id="R67986b88c0f0440b"/>
    <p:sldLayoutId xmlns:r="http://schemas.openxmlformats.org/officeDocument/2006/relationships" id="2147483653" r:id="R910abae62b2e4c36"/>
    <p:sldLayoutId xmlns:r="http://schemas.openxmlformats.org/officeDocument/2006/relationships" id="2147483654" r:id="Rf38fb61e10fb477c"/>
    <p:sldLayoutId xmlns:r="http://schemas.openxmlformats.org/officeDocument/2006/relationships" id="2147483655" r:id="Ref810764d8424a90"/>
    <p:sldLayoutId xmlns:r="http://schemas.openxmlformats.org/officeDocument/2006/relationships" id="2147483656" r:id="R4ae3153db6bd4d0b"/>
    <p:sldLayoutId xmlns:r="http://schemas.openxmlformats.org/officeDocument/2006/relationships" id="2147483657" r:id="R50eb7c4d0cbe49ff"/>
    <p:sldLayoutId xmlns:r="http://schemas.openxmlformats.org/officeDocument/2006/relationships" id="2147483658" r:id="R67c409e9a0094db4"/>
    <p:sldLayoutId xmlns:r="http://schemas.openxmlformats.org/officeDocument/2006/relationships" id="2147483659" r:id="Rc4da9a0b80e64a2d"/>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424e414c9b463b" /><Relationship Type="http://schemas.openxmlformats.org/officeDocument/2006/relationships/image" Target="/ppt/media/image.png" Id="R4fc9e5ee66b54b52" /><Relationship Type="http://schemas.openxmlformats.org/officeDocument/2006/relationships/image" Target="/ppt/media/image2.png" Id="R04e51f258aac40d7" /><Relationship Type="http://schemas.openxmlformats.org/officeDocument/2006/relationships/image" Target="/ppt/media/image.jpeg" Id="R7808b025c4b14b39" /><Relationship Type="http://schemas.openxmlformats.org/officeDocument/2006/relationships/notesSlide" Target="/ppt/notesSlides/notesSlide1.xml" Id="R10c0023e4f3f4c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189166087984294" /><Relationship Type="http://schemas.openxmlformats.org/officeDocument/2006/relationships/image" Target="/ppt/media/image2.png" Id="R7707e4eaeb49400c" /><Relationship Type="http://schemas.openxmlformats.org/officeDocument/2006/relationships/notesSlide" Target="/ppt/notesSlides/notesSlide2.xml" Id="Rbb1ff14364f949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89643a594664db8" /><Relationship Type="http://schemas.openxmlformats.org/officeDocument/2006/relationships/image" Target="/ppt/media/image2.png" Id="Rdf9ef16ff50446a7" /><Relationship Type="http://schemas.openxmlformats.org/officeDocument/2006/relationships/notesSlide" Target="/ppt/notesSlides/notesSlide3.xml" Id="R9c84cb07ffce4d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442d5fc94c341c3" /><Relationship Type="http://schemas.openxmlformats.org/officeDocument/2006/relationships/image" Target="/ppt/media/image2.png" Id="R5b6876f4cb1e4e63" /><Relationship Type="http://schemas.openxmlformats.org/officeDocument/2006/relationships/image" Target="/ppt/media/image2.jpeg" Id="R168820248e2e4271" /><Relationship Type="http://schemas.openxmlformats.org/officeDocument/2006/relationships/notesSlide" Target="/ppt/notesSlides/notesSlide4.xml" Id="Rab00cc7b84334b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4a92527e9fb42fd" /><Relationship Type="http://schemas.openxmlformats.org/officeDocument/2006/relationships/image" Target="/ppt/media/image2.png" Id="R767ac4ffbc9846b4" /><Relationship Type="http://schemas.openxmlformats.org/officeDocument/2006/relationships/notesSlide" Target="/ppt/notesSlides/notesSlide5.xml" Id="R29acea3b6d2d44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8b67a6982f44cf1" /><Relationship Type="http://schemas.openxmlformats.org/officeDocument/2006/relationships/image" Target="/ppt/media/image2.png" Id="R43539ecf5428489e" /><Relationship Type="http://schemas.openxmlformats.org/officeDocument/2006/relationships/notesSlide" Target="/ppt/notesSlides/notesSlide6.xml" Id="R7d12291865124227"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2"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4fc9e5ee66b54b52"/>
          <a:srcRect xmlns:a="http://schemas.openxmlformats.org/drawingml/2006/main" l="0" t="0" r="59916" b="0"/>
          <a:stretch xmlns:a="http://schemas.openxmlformats.org/drawingml/2006/main"/>
        </p:blipFill>
        <p:spPr>
          <a:xfrm xmlns:a="http://schemas.openxmlformats.org/drawingml/2006/main">
            <a:off x="8315325" y="1495425"/>
            <a:ext cx="1752600" cy="1876425"/>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D6A665B3-1AD9-45AF-8577-CBB8BAF4229A}"/>
              </a:ext>
            </a:extLst>
          </p:cNvPr>
          <p:cNvSpPr>
            <a:spLocks xmlns:a="http://schemas.openxmlformats.org/drawingml/2006/main" noGrp="1"/>
          </p:cNvSpPr>
          <p:nvPr>
            <p:ph type="subTitle" idx="1"/>
          </p:nvPr>
        </p:nvSpPr>
        <p:spPr>
          <a:xfrm xmlns:a="http://schemas.openxmlformats.org/drawingml/2006/main">
            <a:off x="1238250" y="857250"/>
            <a:ext cx="8534400" cy="666750"/>
          </a:xfrm>
        </p:spPr>
        <p:txBody>
          <a:bodyPr xmlns:a="http://schemas.openxmlformats.org/drawingml/2006/main" lIns="19050" tIns="0" rIns="19050" bIns="0" anchor="ctr">
            <a:noAutofit/>
          </a:bodyPr>
          <a:lstStyle xmlns:a="http://schemas.openxmlformats.org/drawingml/2006/main"/>
          <a:p xmlns:a="http://schemas.openxmlformats.org/drawingml/2006/main">
            <a:pPr algn="ctr">
              <a:defRPr sz="2850" b="1">
                <a:solidFill>
                  <a:srgbClr val="888888"/>
                </a:solidFill>
                <a:latin typeface="Times New Roman"/>
                <a:ea typeface="Times New Roman"/>
                <a:cs typeface="Times New Roman"/>
              </a:defRPr>
            </a:pPr>
            <a:r>
              <a:rPr sz="2850" b="1">
                <a:solidFill>
                  <a:srgbClr val="888888"/>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C84EEF13-6886-4F4D-98FE-636ED146E948}"/>
              </a:ext>
            </a:extLst>
          </p:cNvPr>
          <p:cNvSpPr>
            <a:spLocks xmlns:a="http://schemas.openxmlformats.org/drawingml/2006/main" noGrp="1"/>
          </p:cNvSpPr>
          <p:nvPr>
            <p:ph type="ctrTitle" idx="0"/>
          </p:nvPr>
        </p:nvSpPr>
        <p:spPr>
          <a:xfrm xmlns:a="http://schemas.openxmlformats.org/drawingml/2006/main">
            <a:off x="333375" y="0"/>
            <a:ext cx="9144000" cy="857250"/>
          </a:xfrm>
        </p:spPr>
        <p:txBody>
          <a:bodyPr xmlns:a="http://schemas.openxmlformats.org/drawingml/2006/main" lIns="19050" tIns="0" rIns="19050" bIns="0" anchor="ctr">
            <a:noAutofit/>
          </a:bodyPr>
          <a:lstStyle xmlns:a="http://schemas.openxmlformats.org/drawingml/2006/main"/>
          <a:p xmlns:a="http://schemas.openxmlformats.org/drawingml/2006/main">
            <a:pPr algn="ctr">
              <a:defRPr sz="3150" b="1">
                <a:solidFill>
                  <a:srgbClr val="1F4E79"/>
                </a:solidFill>
                <a:latin typeface="Arial"/>
                <a:ea typeface="Arial"/>
                <a:cs typeface="Arial"/>
              </a:defRPr>
            </a:pPr>
            <a:r>
              <a:rPr sz="3150" b="1">
                <a:solidFill>
                  <a:srgbClr val="1F4E79"/>
                </a:solidFill>
                <a:latin typeface="Arial"/>
                <a:ea typeface="Arial"/>
                <a:cs typeface="Arial"/>
              </a:rPr>
              <a:t>SMART INDIA HACKATHON 2026</a:t>
            </a:r>
            <a:endParaRPr sz="4000" b="1">
              <a:solidFill>
                <a:schemeClr val="tx2"/>
              </a:solidFill>
              <a:latin typeface="Garamond"/>
              <a:ea typeface="Garamond"/>
              <a:cs typeface="Garamond"/>
            </a:endParaRPr>
          </a:p>
        </p:txBody>
      </p:sp>
      <p:pic>
        <p:nvPicPr>
          <p:cNvPr id="55" name="Picture 1"/>
          <p:cNvPicPr>
            <a:picLocks xmlns:a="http://schemas.openxmlformats.org/drawingml/2006/main" noChangeAspect="1"/>
          </p:cNvPicPr>
          <p:nvPr/>
        </p:nvPicPr>
        <p:blipFill>
          <a:blip xmlns:r="http://schemas.openxmlformats.org/officeDocument/2006/relationships" xmlns:a="http://schemas.openxmlformats.org/drawingml/2006/main" r:embed="R04e51f258aac40d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VYUHA">
            <a:extLst xmlns:a="http://schemas.openxmlformats.org/drawingml/2006/main">
              <a:ext uri="{FF2B5EF4-FFF2-40B4-BE49-F238E27FC236}">
                <a16:creationId xmlns:a16="http://schemas.microsoft.com/office/drawing/2014/main" id="{9988AF50-FA64-467C-953B-D7CF8B8F3A61}"/>
              </a:ext>
            </a:extLst>
          </p:cNvPr>
          <p:cNvSpPr>
            <a:spLocks xmlns:a="http://schemas.openxmlformats.org/drawingml/2006/main" noGrp="1"/>
          </p:cNvSpPr>
          <p:nvPr/>
        </p:nvSpPr>
        <p:spPr>
          <a:xfrm xmlns:a="http://schemas.openxmlformats.org/drawingml/2006/main">
            <a:off x="400050" y="167640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825" b="1">
                <a:solidFill>
                  <a:srgbClr val="1F4E79"/>
                </a:solidFill>
                <a:latin typeface="Arial"/>
                <a:ea typeface="Arial"/>
                <a:cs typeface="Arial"/>
              </a:defRPr>
            </a:pPr>
            <a:r>
              <a:rPr sz="3825" b="1">
                <a:solidFill>
                  <a:srgbClr val="1F4E79"/>
                </a:solidFill>
                <a:latin typeface="Arial"/>
                <a:ea typeface="Arial"/>
                <a:cs typeface="Arial"/>
              </a:rPr>
              <a:t>VYUHA</a:t>
            </a:r>
          </a:p>
        </p:txBody>
      </p:sp>
      <p:sp>
        <p:nvSpPr>
          <p:cNvPr id="41" name="pitch">
            <a:extLst xmlns:a="http://schemas.openxmlformats.org/drawingml/2006/main">
              <a:ext uri="{FF2B5EF4-FFF2-40B4-BE49-F238E27FC236}">
                <a16:creationId xmlns:a16="http://schemas.microsoft.com/office/drawing/2014/main" id="{C23EF568-E7E0-42CD-8558-9063DB63092A}"/>
              </a:ext>
            </a:extLst>
          </p:cNvPr>
          <p:cNvSpPr>
            <a:spLocks xmlns:a="http://schemas.openxmlformats.org/drawingml/2006/main" noGrp="1"/>
          </p:cNvSpPr>
          <p:nvPr/>
        </p:nvSpPr>
        <p:spPr>
          <a:xfrm xmlns:a="http://schemas.openxmlformats.org/drawingml/2006/main">
            <a:off x="419100" y="228600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Adaptive counter-drone decision training</a:t>
            </a:r>
          </a:p>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Train. Explain. Adapt. Repeat.</a:t>
            </a:r>
          </a:p>
        </p:txBody>
      </p:sp>
      <p:sp>
        <p:nvSpPr>
          <p:cNvPr id="42" name="psid">
            <a:extLst xmlns:a="http://schemas.openxmlformats.org/drawingml/2006/main">
              <a:ext uri="{FF2B5EF4-FFF2-40B4-BE49-F238E27FC236}">
                <a16:creationId xmlns:a16="http://schemas.microsoft.com/office/drawing/2014/main" id="{8F9E6CB6-EA02-4BDE-8726-3E0E60E398BB}"/>
              </a:ext>
            </a:extLst>
          </p:cNvPr>
          <p:cNvSpPr>
            <a:spLocks xmlns:a="http://schemas.openxmlformats.org/drawingml/2006/main" noGrp="1"/>
          </p:cNvSpPr>
          <p:nvPr/>
        </p:nvSpPr>
        <p:spPr>
          <a:xfrm xmlns:a="http://schemas.openxmlformats.org/drawingml/2006/main">
            <a:off x="419100" y="29527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ID – SIH26247</a:t>
            </a:r>
          </a:p>
        </p:txBody>
      </p:sp>
      <p:sp>
        <p:nvSpPr>
          <p:cNvPr id="43" name="pstitle label">
            <a:extLst xmlns:a="http://schemas.openxmlformats.org/drawingml/2006/main">
              <a:ext uri="{FF2B5EF4-FFF2-40B4-BE49-F238E27FC236}">
                <a16:creationId xmlns:a16="http://schemas.microsoft.com/office/drawing/2014/main" id="{7BBC8B3D-F708-4EE3-BEE8-103B3125B98F}"/>
              </a:ext>
            </a:extLst>
          </p:cNvPr>
          <p:cNvSpPr>
            <a:spLocks xmlns:a="http://schemas.openxmlformats.org/drawingml/2006/main" noGrp="1"/>
          </p:cNvSpPr>
          <p:nvPr/>
        </p:nvSpPr>
        <p:spPr>
          <a:xfrm xmlns:a="http://schemas.openxmlformats.org/drawingml/2006/main">
            <a:off x="419100" y="3400425"/>
            <a:ext cx="590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55555"/>
                </a:solidFill>
                <a:latin typeface="Arial"/>
                <a:ea typeface="Arial"/>
                <a:cs typeface="Arial"/>
              </a:defRPr>
            </a:pPr>
            <a:r>
              <a:rPr sz="1425" b="1">
                <a:solidFill>
                  <a:srgbClr val="555555"/>
                </a:solidFill>
                <a:latin typeface="Arial"/>
                <a:ea typeface="Arial"/>
                <a:cs typeface="Arial"/>
              </a:rPr>
              <a:t>Problem Statement Title –</a:t>
            </a:r>
          </a:p>
        </p:txBody>
      </p:sp>
      <p:sp>
        <p:nvSpPr>
          <p:cNvPr id="44" name="pstitle">
            <a:extLst xmlns:a="http://schemas.openxmlformats.org/drawingml/2006/main">
              <a:ext uri="{FF2B5EF4-FFF2-40B4-BE49-F238E27FC236}">
                <a16:creationId xmlns:a16="http://schemas.microsoft.com/office/drawing/2014/main" id="{DA8DF7C0-1C4F-4639-8EB0-EB9F8A2A5DD6}"/>
              </a:ext>
            </a:extLst>
          </p:cNvPr>
          <p:cNvSpPr>
            <a:spLocks xmlns:a="http://schemas.openxmlformats.org/drawingml/2006/main" noGrp="1"/>
          </p:cNvSpPr>
          <p:nvPr/>
        </p:nvSpPr>
        <p:spPr>
          <a:xfrm xmlns:a="http://schemas.openxmlformats.org/drawingml/2006/main">
            <a:off x="419100" y="3686175"/>
            <a:ext cx="590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AI-Enabled Drone &amp; Counter-Drone</a:t>
            </a:r>
          </a:p>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Threat Simulation Trainer</a:t>
            </a:r>
          </a:p>
        </p:txBody>
      </p:sp>
      <p:sp>
        <p:nvSpPr>
          <p:cNvPr id="45" name="theme">
            <a:extLst xmlns:a="http://schemas.openxmlformats.org/drawingml/2006/main">
              <a:ext uri="{FF2B5EF4-FFF2-40B4-BE49-F238E27FC236}">
                <a16:creationId xmlns:a16="http://schemas.microsoft.com/office/drawing/2014/main" id="{F1EE06E8-AA9E-49D5-B673-D828316FA7DC}"/>
              </a:ext>
            </a:extLst>
          </p:cNvPr>
          <p:cNvSpPr>
            <a:spLocks xmlns:a="http://schemas.openxmlformats.org/drawingml/2006/main" noGrp="1"/>
          </p:cNvSpPr>
          <p:nvPr/>
        </p:nvSpPr>
        <p:spPr>
          <a:xfrm xmlns:a="http://schemas.openxmlformats.org/drawingml/2006/main">
            <a:off x="419100" y="449580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Theme – Robotics and Drones</a:t>
            </a:r>
          </a:p>
        </p:txBody>
      </p:sp>
      <p:sp>
        <p:nvSpPr>
          <p:cNvPr id="46" name="category">
            <a:extLst xmlns:a="http://schemas.openxmlformats.org/drawingml/2006/main">
              <a:ext uri="{FF2B5EF4-FFF2-40B4-BE49-F238E27FC236}">
                <a16:creationId xmlns:a16="http://schemas.microsoft.com/office/drawing/2014/main" id="{3ABAE58B-0684-44F1-9CCD-F56844278650}"/>
              </a:ext>
            </a:extLst>
          </p:cNvPr>
          <p:cNvSpPr>
            <a:spLocks xmlns:a="http://schemas.openxmlformats.org/drawingml/2006/main" noGrp="1"/>
          </p:cNvSpPr>
          <p:nvPr/>
        </p:nvSpPr>
        <p:spPr>
          <a:xfrm xmlns:a="http://schemas.openxmlformats.org/drawingml/2006/main">
            <a:off x="419100" y="498157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PS Category – Software</a:t>
            </a:r>
          </a:p>
        </p:txBody>
      </p:sp>
      <p:sp>
        <p:nvSpPr>
          <p:cNvPr id="47" name="teamid">
            <a:extLst xmlns:a="http://schemas.openxmlformats.org/drawingml/2006/main">
              <a:ext uri="{FF2B5EF4-FFF2-40B4-BE49-F238E27FC236}">
                <a16:creationId xmlns:a16="http://schemas.microsoft.com/office/drawing/2014/main" id="{E05FEEB4-2B35-49B0-B9D2-D83527BF7BD5}"/>
              </a:ext>
            </a:extLst>
          </p:cNvPr>
          <p:cNvSpPr>
            <a:spLocks xmlns:a="http://schemas.openxmlformats.org/drawingml/2006/main" noGrp="1"/>
          </p:cNvSpPr>
          <p:nvPr/>
        </p:nvSpPr>
        <p:spPr>
          <a:xfrm xmlns:a="http://schemas.openxmlformats.org/drawingml/2006/main">
            <a:off x="419100" y="54673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Team ID – 185350</a:t>
            </a:r>
          </a:p>
        </p:txBody>
      </p:sp>
      <p:sp>
        <p:nvSpPr>
          <p:cNvPr id="48" name="teamname">
            <a:extLst xmlns:a="http://schemas.openxmlformats.org/drawingml/2006/main">
              <a:ext uri="{FF2B5EF4-FFF2-40B4-BE49-F238E27FC236}">
                <a16:creationId xmlns:a16="http://schemas.microsoft.com/office/drawing/2014/main" id="{1949F5E3-4D8C-44FE-9008-6CE7C0F21647}"/>
              </a:ext>
            </a:extLst>
          </p:cNvPr>
          <p:cNvSpPr>
            <a:spLocks xmlns:a="http://schemas.openxmlformats.org/drawingml/2006/main" noGrp="1"/>
          </p:cNvSpPr>
          <p:nvPr/>
        </p:nvSpPr>
        <p:spPr>
          <a:xfrm xmlns:a="http://schemas.openxmlformats.org/drawingml/2006/main">
            <a:off x="419100" y="5953125"/>
            <a:ext cx="604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Team Name (Registered on portal) – WhiteList&amp;0</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7808b025c4b14b39"/>
          <a:stretch xmlns:a="http://schemas.openxmlformats.org/drawingml/2006/main"/>
        </p:blipFill>
        <p:spPr>
          <a:xfrm xmlns:a="http://schemas.openxmlformats.org/drawingml/2006/main">
            <a:off x="6668558" y="3514725"/>
            <a:ext cx="5198533" cy="2924175"/>
          </a:xfrm>
          <a:prstGeom xmlns:a="http://schemas.openxmlformats.org/drawingml/2006/main" prst="rect">
            <a:avLst/>
          </a:prstGeom>
        </p:spPr>
      </p:pic>
    </p:spTree>
    <p:extLst>
      <p:ext uri="{BB962C8B-B14F-4D97-AF65-F5344CB8AC3E}">
        <p14:creationId xmlns:p14="http://schemas.microsoft.com/office/powerpoint/2010/main" val="2491357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4C324EB-1A5E-4D1D-9324-5B18EE5C3B63}"/>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3C20CCB9-216F-4C6E-B6CE-E44ECF14FE56}"/>
              </a:ext>
            </a:extLst>
          </p:cNvPr>
          <p:cNvSpPr>
            <a:spLocks xmlns:a="http://schemas.openxmlformats.org/drawingml/2006/main" noGrp="1"/>
          </p:cNvSpPr>
          <p:nvPr>
            <p:ph type="title" idx="0"/>
          </p:nvPr>
        </p:nvSpPr>
        <p:spPr>
          <a:xfrm xmlns:a="http://schemas.openxmlformats.org/drawingml/2006/main">
            <a:off x="1714500" y="95250"/>
            <a:ext cx="8001000" cy="1000125"/>
          </a:xfrm>
        </p:spPr>
        <p:txBody>
          <a:bodyPr xmlns:a="http://schemas.openxmlformats.org/drawingml/2006/main" lIns="19050" tIns="0" rIns="19050" bIns="0" anchor="ctr">
            <a:noAutofit/>
          </a:bodyPr>
          <a:lstStyle xmlns:a="http://schemas.openxmlformats.org/drawingml/2006/main"/>
          <a:p xmlns:a="http://schemas.openxmlformats.org/drawingml/2006/main">
            <a:pPr algn="ctr">
              <a:buNone/>
              <a:defRPr sz="3450" b="1">
                <a:solidFill>
                  <a:srgbClr val="111111"/>
                </a:solidFill>
                <a:latin typeface="Times New Roman"/>
                <a:ea typeface="Times New Roman"/>
                <a:cs typeface="Times New Roman"/>
              </a:defRPr>
            </a:pPr>
            <a:r>
              <a:rPr sz="3450" b="1">
                <a:solidFill>
                  <a:srgbClr val="111111"/>
                </a:solidFill>
                <a:latin typeface="Times New Roman"/>
                <a:ea typeface="Times New Roman"/>
                <a:cs typeface="Times New Roman"/>
              </a:rPr>
              <a:t>IDEA TITLE</a:t>
            </a:r>
          </a:p>
        </p:txBody>
      </p:sp>
      <p:sp>
        <p:nvSpPr>
          <p:cNvPr id="6" name="Slide Number Placeholder 5">
            <a:extLst xmlns:a="http://schemas.openxmlformats.org/drawingml/2006/main">
              <a:ext uri="{FF2B5EF4-FFF2-40B4-BE49-F238E27FC236}">
                <a16:creationId xmlns:a16="http://schemas.microsoft.com/office/drawing/2014/main" id="{BB9FF686-0C6F-4ACF-9EAA-869BFE26D8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221536E3-B006-46F3-9427-9420CDBB11D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19050" tIns="0" rIns="1905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WhiteList&amp;0</a:t>
            </a:r>
            <a:endParaRPr/>
          </a:p>
        </p:txBody>
      </p:sp>
      <p:pic>
        <p:nvPicPr>
          <p:cNvPr id="15376" name="Picture 10"/>
          <p:cNvPicPr>
            <a:picLocks xmlns:a="http://schemas.openxmlformats.org/drawingml/2006/main" noChangeAspect="1"/>
          </p:cNvPicPr>
          <p:nvPr/>
        </p:nvPicPr>
        <p:blipFill>
          <a:blip xmlns:r="http://schemas.openxmlformats.org/officeDocument/2006/relationships" xmlns:a="http://schemas.openxmlformats.org/drawingml/2006/main" r:embed="R7707e4eaeb49400c"/>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solution pointer">
            <a:extLst xmlns:a="http://schemas.openxmlformats.org/drawingml/2006/main">
              <a:ext uri="{FF2B5EF4-FFF2-40B4-BE49-F238E27FC236}">
                <a16:creationId xmlns:a16="http://schemas.microsoft.com/office/drawing/2014/main" id="{F831CB80-A140-40D1-AE01-80ED7674F489}"/>
              </a:ext>
            </a:extLst>
          </p:cNvPr>
          <p:cNvSpPr>
            <a:spLocks xmlns:a="http://schemas.openxmlformats.org/drawingml/2006/main" noGrp="1"/>
          </p:cNvSpPr>
          <p:nvPr/>
        </p:nvSpPr>
        <p:spPr>
          <a:xfrm xmlns:a="http://schemas.openxmlformats.org/drawingml/2006/main">
            <a:off x="428625" y="1247775"/>
            <a:ext cx="11315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1F4E79"/>
                </a:solidFill>
                <a:latin typeface="Arial"/>
                <a:ea typeface="Arial"/>
                <a:cs typeface="Arial"/>
              </a:defRPr>
            </a:pPr>
            <a:r>
              <a:rPr sz="2250" b="1">
                <a:solidFill>
                  <a:srgbClr val="1F4E79"/>
                </a:solidFill>
                <a:latin typeface="Arial"/>
                <a:ea typeface="Arial"/>
                <a:cs typeface="Arial"/>
              </a:rPr>
              <a:t>Proposed Solution (Describe your Idea/Solution/Prototype)</a:t>
            </a:r>
          </a:p>
        </p:txBody>
      </p:sp>
      <p:sp>
        <p:nvSpPr>
          <p:cNvPr id="15365" name="detail pointer">
            <a:extLst xmlns:a="http://schemas.openxmlformats.org/drawingml/2006/main">
              <a:ext uri="{FF2B5EF4-FFF2-40B4-BE49-F238E27FC236}">
                <a16:creationId xmlns:a16="http://schemas.microsoft.com/office/drawing/2014/main" id="{D59992A2-E8E5-45EA-95AC-ED6732DBBCAF}"/>
              </a:ext>
            </a:extLst>
          </p:cNvPr>
          <p:cNvSpPr>
            <a:spLocks xmlns:a="http://schemas.openxmlformats.org/drawingml/2006/main" noGrp="1"/>
          </p:cNvSpPr>
          <p:nvPr/>
        </p:nvSpPr>
        <p:spPr>
          <a:xfrm xmlns:a="http://schemas.openxmlformats.org/drawingml/2006/main">
            <a:off x="609600" y="18192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Detailed explanation of the proposed solution</a:t>
            </a:r>
          </a:p>
        </p:txBody>
      </p:sp>
      <p:sp>
        <p:nvSpPr>
          <p:cNvPr id="15366" name="solution summary">
            <a:extLst xmlns:a="http://schemas.openxmlformats.org/drawingml/2006/main">
              <a:ext uri="{FF2B5EF4-FFF2-40B4-BE49-F238E27FC236}">
                <a16:creationId xmlns:a16="http://schemas.microsoft.com/office/drawing/2014/main" id="{1804F5E6-74AC-40BA-AA7E-D7A9A0F74329}"/>
              </a:ext>
            </a:extLst>
          </p:cNvPr>
          <p:cNvSpPr>
            <a:spLocks xmlns:a="http://schemas.openxmlformats.org/drawingml/2006/main" noGrp="1"/>
          </p:cNvSpPr>
          <p:nvPr/>
        </p:nvSpPr>
        <p:spPr>
          <a:xfrm xmlns:a="http://schemas.openxmlformats.org/drawingml/2006/main">
            <a:off x="609600" y="21717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A local laptop serves repeatable mixed-contact drills; verified decisions feed</a:t>
            </a:r>
          </a:p>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explainable review, persistent skill profiles and the next adaptive exercise.</a:t>
            </a:r>
          </a:p>
        </p:txBody>
      </p:sp>
      <p:sp>
        <p:nvSpPr>
          <p:cNvPr id="15367" name="fit pointer">
            <a:extLst xmlns:a="http://schemas.openxmlformats.org/drawingml/2006/main">
              <a:ext uri="{FF2B5EF4-FFF2-40B4-BE49-F238E27FC236}">
                <a16:creationId xmlns:a16="http://schemas.microsoft.com/office/drawing/2014/main" id="{C64A7624-D796-4D7A-8FE9-72BF4A90F9CD}"/>
              </a:ext>
            </a:extLst>
          </p:cNvPr>
          <p:cNvSpPr>
            <a:spLocks xmlns:a="http://schemas.openxmlformats.org/drawingml/2006/main" noGrp="1"/>
          </p:cNvSpPr>
          <p:nvPr/>
        </p:nvSpPr>
        <p:spPr>
          <a:xfrm xmlns:a="http://schemas.openxmlformats.org/drawingml/2006/main">
            <a:off x="609600" y="2790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How it addresses the problem</a:t>
            </a:r>
          </a:p>
        </p:txBody>
      </p:sp>
      <p:graphicFrame>
        <p:nvGraphicFramePr>
          <p:cNvPr id="15381" name="PS requirement to implemented capability"/>
          <p:cNvGraphicFramePr/>
          <p:nvPr/>
        </p:nvGraphicFramePr>
        <p:xfrm>
          <a:off xmlns:a="http://schemas.openxmlformats.org/drawingml/2006/main" x="609600" y="3171825"/>
          <a:ext xmlns:a="http://schemas.openxmlformats.org/drawingml/2006/main" cx="10972800" cy="2124075"/>
        </p:xfrm>
        <a:graphic xmlns:a="http://schemas.openxmlformats.org/drawingml/2006/main">
          <a:graphicData uri="http://schemas.openxmlformats.org/drawingml/2006/table">
            <a:tbl>
              <a:tblPr/>
              <a:tblGrid>
                <a:gridCol w="4143375"/>
                <a:gridCol w="6829425"/>
              </a:tblGrid>
              <a:tr h="354013">
                <a:tc>
                  <a:txBody>
                    <a:bodyPr/>
                    <a:lstStyle/>
                    <a:p>
                      <a:r>
                        <a:rPr sz="1575" b="1">
                          <a:solidFill>
                            <a:srgbClr val="FFFFFF"/>
                          </a:solidFill>
                          <a:latin typeface="Arial"/>
                          <a:ea typeface="Arial"/>
                          <a:cs typeface="Arial"/>
                        </a:rPr>
                        <a:t>PS requirement</a:t>
                      </a:r>
                    </a:p>
                  </a:txBody>
                  <a:tcPr marL="95250" marR="95250" marT="47625" marB="47625">
                    <a:solidFill>
                      <a:srgbClr val="1F4E79"/>
                    </a:solidFill>
                  </a:tcPr>
                </a:tc>
                <a:tc>
                  <a:txBody>
                    <a:bodyPr/>
                    <a:lstStyle/>
                    <a:p>
                      <a:r>
                        <a:rPr sz="1575" b="1">
                          <a:solidFill>
                            <a:srgbClr val="FFFFFF"/>
                          </a:solidFill>
                          <a:latin typeface="Arial"/>
                          <a:ea typeface="Arial"/>
                          <a:cs typeface="Arial"/>
                        </a:rPr>
                        <a:t>Working VYUHA capability</a:t>
                      </a:r>
                    </a:p>
                  </a:txBody>
                  <a:tcPr marL="95250" marR="95250" marT="47625" marB="47625">
                    <a:solidFill>
                      <a:srgbClr val="1F4E79"/>
                    </a:solidFill>
                  </a:tcPr>
                </a:tc>
              </a:tr>
              <a:tr h="354013">
                <a:tc>
                  <a:txBody>
                    <a:bodyPr/>
                    <a:lstStyle/>
                    <a:p>
                      <a:r>
                        <a:rPr sz="1575">
                          <a:solidFill>
                            <a:srgbClr val="111111"/>
                          </a:solidFill>
                          <a:latin typeface="Arial"/>
                          <a:ea typeface="Arial"/>
                          <a:cs typeface="Arial"/>
                        </a:rPr>
                        <a:t>Recognise / classify / respond</a:t>
                      </a:r>
                    </a:p>
                  </a:txBody>
                  <a:tcPr marL="95250" marR="95250" marT="47625" marB="47625">
                    <a:solidFill>
                      <a:srgbClr val="FFFFFF"/>
                    </a:solidFill>
                  </a:tcPr>
                </a:tc>
                <a:tc>
                  <a:txBody>
                    <a:bodyPr/>
                    <a:lstStyle/>
                    <a:p>
                      <a:r>
                        <a:rPr sz="1575">
                          <a:solidFill>
                            <a:srgbClr val="111111"/>
                          </a:solidFill>
                          <a:latin typeface="Arial"/>
                          <a:ea typeface="Arial"/>
                          <a:cs typeface="Arial"/>
                        </a:rPr>
                        <a:t>Tactical drills + separate Rapid ID</a:t>
                      </a:r>
                    </a:p>
                  </a:txBody>
                  <a:tcPr marL="95250" marR="95250" marT="47625" marB="47625">
                    <a:solidFill>
                      <a:srgbClr val="FFFFFF"/>
                    </a:solidFill>
                  </a:tcPr>
                </a:tc>
              </a:tr>
              <a:tr h="354013">
                <a:tc>
                  <a:txBody>
                    <a:bodyPr/>
                    <a:lstStyle/>
                    <a:p>
                      <a:r>
                        <a:rPr sz="1575">
                          <a:solidFill>
                            <a:srgbClr val="111111"/>
                          </a:solidFill>
                          <a:latin typeface="Arial"/>
                          <a:ea typeface="Arial"/>
                          <a:cs typeface="Arial"/>
                        </a:rPr>
                        <a:t>Scoring / after-action review</a:t>
                      </a:r>
                    </a:p>
                  </a:txBody>
                  <a:tcPr marL="95250" marR="95250" marT="47625" marB="47625">
                    <a:solidFill>
                      <a:srgbClr val="FFFFFF"/>
                    </a:solidFill>
                  </a:tcPr>
                </a:tc>
                <a:tc>
                  <a:txBody>
                    <a:bodyPr/>
                    <a:lstStyle/>
                    <a:p>
                      <a:r>
                        <a:rPr sz="1575">
                          <a:solidFill>
                            <a:srgbClr val="111111"/>
                          </a:solidFill>
                          <a:latin typeface="Arial"/>
                          <a:ea typeface="Arial"/>
                          <a:cs typeface="Arial"/>
                        </a:rPr>
                        <a:t>Server reconstruction + Ghost + Time Machine</a:t>
                      </a:r>
                    </a:p>
                  </a:txBody>
                  <a:tcPr marL="95250" marR="95250" marT="47625" marB="47625">
                    <a:solidFill>
                      <a:srgbClr val="FFFFFF"/>
                    </a:solidFill>
                  </a:tcPr>
                </a:tc>
              </a:tr>
              <a:tr h="354013">
                <a:tc>
                  <a:txBody>
                    <a:bodyPr/>
                    <a:lstStyle/>
                    <a:p>
                      <a:r>
                        <a:rPr sz="1575">
                          <a:solidFill>
                            <a:srgbClr val="111111"/>
                          </a:solidFill>
                          <a:latin typeface="Arial"/>
                          <a:ea typeface="Arial"/>
                          <a:cs typeface="Arial"/>
                        </a:rPr>
                        <a:t>Adjust difficulty</a:t>
                      </a:r>
                    </a:p>
                  </a:txBody>
                  <a:tcPr marL="95250" marR="95250" marT="47625" marB="47625">
                    <a:solidFill>
                      <a:srgbClr val="FFFFFF"/>
                    </a:solidFill>
                  </a:tcPr>
                </a:tc>
                <a:tc>
                  <a:txBody>
                    <a:bodyPr/>
                    <a:lstStyle/>
                    <a:p>
                      <a:r>
                        <a:rPr sz="1575">
                          <a:solidFill>
                            <a:srgbClr val="111111"/>
                          </a:solidFill>
                          <a:latin typeface="Arial"/>
                          <a:ea typeface="Arial"/>
                          <a:cs typeface="Arial"/>
                        </a:rPr>
                        <a:t>Four-skill Beta Director; heuristic difficulty</a:t>
                      </a:r>
                    </a:p>
                  </a:txBody>
                  <a:tcPr marL="95250" marR="95250" marT="47625" marB="47625">
                    <a:solidFill>
                      <a:srgbClr val="FFFFFF"/>
                    </a:solidFill>
                  </a:tcPr>
                </a:tc>
              </a:tr>
              <a:tr h="354013">
                <a:tc>
                  <a:txBody>
                    <a:bodyPr/>
                    <a:lstStyle/>
                    <a:p>
                      <a:r>
                        <a:rPr sz="1575">
                          <a:solidFill>
                            <a:srgbClr val="111111"/>
                          </a:solidFill>
                          <a:latin typeface="Arial"/>
                          <a:ea typeface="Arial"/>
                          <a:cs typeface="Arial"/>
                        </a:rPr>
                        <a:t>Conditions / terrain</a:t>
                      </a:r>
                    </a:p>
                  </a:txBody>
                  <a:tcPr marL="95250" marR="95250" marT="47625" marB="47625">
                    <a:solidFill>
                      <a:srgbClr val="FFFFFF"/>
                    </a:solidFill>
                  </a:tcPr>
                </a:tc>
                <a:tc>
                  <a:txBody>
                    <a:bodyPr/>
                    <a:lstStyle/>
                    <a:p>
                      <a:r>
                        <a:rPr sz="1575">
                          <a:solidFill>
                            <a:srgbClr val="111111"/>
                          </a:solidFill>
                          <a:latin typeface="Arial"/>
                          <a:ea typeface="Arial"/>
                          <a:cs typeface="Arial"/>
                        </a:rPr>
                        <a:t>Day/night, sensor degradation, urban/rural</a:t>
                      </a:r>
                    </a:p>
                  </a:txBody>
                  <a:tcPr marL="95250" marR="95250" marT="47625" marB="47625">
                    <a:solidFill>
                      <a:srgbClr val="FFFFFF"/>
                    </a:solidFill>
                  </a:tcPr>
                </a:tc>
              </a:tr>
              <a:tr h="354013">
                <a:tc>
                  <a:txBody>
                    <a:bodyPr/>
                    <a:lstStyle/>
                    <a:p>
                      <a:r>
                        <a:rPr sz="1575">
                          <a:solidFill>
                            <a:srgbClr val="111111"/>
                          </a:solidFill>
                          <a:latin typeface="Arial"/>
                          <a:ea typeface="Arial"/>
                          <a:cs typeface="Arial"/>
                        </a:rPr>
                        <a:t>Single / swarm / unit training</a:t>
                      </a:r>
                    </a:p>
                  </a:txBody>
                  <a:tcPr marL="95250" marR="95250" marT="47625" marB="47625">
                    <a:solidFill>
                      <a:srgbClr val="FFFFFF"/>
                    </a:solidFill>
                  </a:tcPr>
                </a:tc>
                <a:tc>
                  <a:txBody>
                    <a:bodyPr/>
                    <a:lstStyle/>
                    <a:p>
                      <a:r>
                        <a:rPr sz="1575">
                          <a:solidFill>
                            <a:srgbClr val="111111"/>
                          </a:solidFill>
                          <a:latin typeface="Arial"/>
                          <a:ea typeface="Arial"/>
                          <a:cs typeface="Arial"/>
                        </a:rPr>
                        <a:t>Five Red Force patterns + local LAN Unit Mode</a:t>
                      </a:r>
                    </a:p>
                  </a:txBody>
                  <a:tcPr marL="95250" marR="95250" marT="47625" marB="47625">
                    <a:solidFill>
                      <a:srgbClr val="FFFFFF"/>
                    </a:solidFill>
                  </a:tcPr>
                </a:tc>
              </a:tr>
            </a:tbl>
          </a:graphicData>
        </a:graphic>
      </p:graphicFrame>
      <p:sp>
        <p:nvSpPr>
          <p:cNvPr id="15369" name="innovation pointer">
            <a:extLst xmlns:a="http://schemas.openxmlformats.org/drawingml/2006/main">
              <a:ext uri="{FF2B5EF4-FFF2-40B4-BE49-F238E27FC236}">
                <a16:creationId xmlns:a16="http://schemas.microsoft.com/office/drawing/2014/main" id="{71B5F129-0A9A-4046-B53C-E2D92D35E6B6}"/>
              </a:ext>
            </a:extLst>
          </p:cNvPr>
          <p:cNvSpPr>
            <a:spLocks xmlns:a="http://schemas.openxmlformats.org/drawingml/2006/main" noGrp="1"/>
          </p:cNvSpPr>
          <p:nvPr/>
        </p:nvSpPr>
        <p:spPr>
          <a:xfrm xmlns:a="http://schemas.openxmlformats.org/drawingml/2006/main">
            <a:off x="609600" y="5448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Innovation and uniqueness of the solution</a:t>
            </a:r>
          </a:p>
        </p:txBody>
      </p:sp>
      <p:sp>
        <p:nvSpPr>
          <p:cNvPr id="15370" name="innovation">
            <a:extLst xmlns:a="http://schemas.openxmlformats.org/drawingml/2006/main">
              <a:ext uri="{FF2B5EF4-FFF2-40B4-BE49-F238E27FC236}">
                <a16:creationId xmlns:a16="http://schemas.microsoft.com/office/drawing/2014/main" id="{3DFF547F-62B4-47E5-B152-91673023448A}"/>
              </a:ext>
            </a:extLst>
          </p:cNvPr>
          <p:cNvSpPr>
            <a:spLocks xmlns:a="http://schemas.openxmlformats.org/drawingml/2006/main" noGrp="1"/>
          </p:cNvSpPr>
          <p:nvPr/>
        </p:nvSpPr>
        <p:spPr>
          <a:xfrm xmlns:a="http://schemas.openxmlformats.org/drawingml/2006/main">
            <a:off x="609600" y="5791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1F4E79"/>
                </a:solidFill>
                <a:latin typeface="Arial"/>
                <a:ea typeface="Arial"/>
                <a:cs typeface="Arial"/>
              </a:defRPr>
            </a:pPr>
            <a:r>
              <a:rPr sz="1800" b="1">
                <a:solidFill>
                  <a:srgbClr val="1F4E79"/>
                </a:solidFill>
                <a:latin typeface="Arial"/>
                <a:ea typeface="Arial"/>
                <a:cs typeface="Arial"/>
              </a:rPr>
              <a:t>One traceable loop: issued scenario → decisions → verified AAR → profile → next drill.</a:t>
            </a:r>
          </a:p>
        </p:txBody>
      </p:sp>
    </p:spTree>
    <p:extLst>
      <p:ext uri="{BB962C8B-B14F-4D97-AF65-F5344CB8AC3E}">
        <p14:creationId xmlns:p14="http://schemas.microsoft.com/office/powerpoint/2010/main" val="18240524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610B281C-59F4-428F-9E70-68914F282B0B}"/>
              </a:ext>
            </a:extLst>
          </p:cNvPr>
          <p:cNvSpPr>
            <a:spLocks xmlns:a="http://schemas.openxmlformats.org/drawingml/2006/main" noGrp="1"/>
          </p:cNvSpPr>
          <p:nvPr>
            <p:ph type="title" idx="0"/>
          </p:nvPr>
        </p:nvSpPr>
        <p:spPr>
          <a:xfrm xmlns:a="http://schemas.openxmlformats.org/drawingml/2006/main">
            <a:off x="1714500" y="95250"/>
            <a:ext cx="8001000" cy="1000125"/>
          </a:xfrm>
        </p:spPr>
        <p:txBody>
          <a:bodyPr xmlns:a="http://schemas.openxmlformats.org/drawingml/2006/main" lIns="19050" tIns="0" rIns="19050" bIns="0" anchor="ctr">
            <a:noAutofit/>
          </a:bodyPr>
          <a:lstStyle xmlns:a="http://schemas.openxmlformats.org/drawingml/2006/main"/>
          <a:p xmlns:a="http://schemas.openxmlformats.org/drawingml/2006/main">
            <a:pPr algn="ctr">
              <a:buNone/>
              <a:defRPr sz="3450" b="1">
                <a:solidFill>
                  <a:srgbClr val="111111"/>
                </a:solidFill>
                <a:latin typeface="Times New Roman"/>
                <a:ea typeface="Times New Roman"/>
                <a:cs typeface="Times New Roman"/>
              </a:defRPr>
            </a:pPr>
            <a:r>
              <a:rPr sz="3450" b="1">
                <a:solidFill>
                  <a:srgbClr val="111111"/>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F582C53-3253-44C4-9926-A680463002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70006F7F-ED0D-4F7A-B13D-4A2734FBEFB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19050" tIns="0" rIns="1905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WhiteList&amp;0</a:t>
            </a:r>
            <a:endParaRPr/>
          </a:p>
        </p:txBody>
      </p:sp>
      <p:pic>
        <p:nvPicPr>
          <p:cNvPr id="17445" name="Picture 11"/>
          <p:cNvPicPr>
            <a:picLocks xmlns:a="http://schemas.openxmlformats.org/drawingml/2006/main" noChangeAspect="1"/>
          </p:cNvPicPr>
          <p:nvPr/>
        </p:nvPicPr>
        <p:blipFill>
          <a:blip xmlns:r="http://schemas.openxmlformats.org/officeDocument/2006/relationships" xmlns:a="http://schemas.openxmlformats.org/drawingml/2006/main" r:embed="Rdf9ef16ff50446a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technology pointer">
            <a:extLst xmlns:a="http://schemas.openxmlformats.org/drawingml/2006/main">
              <a:ext uri="{FF2B5EF4-FFF2-40B4-BE49-F238E27FC236}">
                <a16:creationId xmlns:a16="http://schemas.microsoft.com/office/drawing/2014/main" id="{15233AC3-BAD5-4CA9-ACCA-0D90C53595C2}"/>
              </a:ext>
            </a:extLst>
          </p:cNvPr>
          <p:cNvSpPr>
            <a:spLocks xmlns:a="http://schemas.openxmlformats.org/drawingml/2006/main" noGrp="1"/>
          </p:cNvSpPr>
          <p:nvPr/>
        </p:nvSpPr>
        <p:spPr>
          <a:xfrm xmlns:a="http://schemas.openxmlformats.org/drawingml/2006/main">
            <a:off x="609600" y="13335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111111"/>
                </a:solidFill>
                <a:latin typeface="Arial"/>
                <a:ea typeface="Arial"/>
                <a:cs typeface="Arial"/>
              </a:defRPr>
            </a:pPr>
            <a:r>
              <a:rPr sz="1650" b="1">
                <a:solidFill>
                  <a:srgbClr val="111111"/>
                </a:solidFill>
                <a:latin typeface="Arial"/>
                <a:ea typeface="Arial"/>
                <a:cs typeface="Arial"/>
              </a:rPr>
              <a:t>Technologies to be used (e.g. programming languages, frameworks, hardware)</a:t>
            </a:r>
          </a:p>
        </p:txBody>
      </p:sp>
      <p:sp>
        <p:nvSpPr>
          <p:cNvPr id="17413" name="stack">
            <a:extLst xmlns:a="http://schemas.openxmlformats.org/drawingml/2006/main">
              <a:ext uri="{FF2B5EF4-FFF2-40B4-BE49-F238E27FC236}">
                <a16:creationId xmlns:a16="http://schemas.microsoft.com/office/drawing/2014/main" id="{14302BB3-B7B9-4C1A-BACB-EDFADE34FE72}"/>
              </a:ext>
            </a:extLst>
          </p:cNvPr>
          <p:cNvSpPr>
            <a:spLocks xmlns:a="http://schemas.openxmlformats.org/drawingml/2006/main" noGrp="1"/>
          </p:cNvSpPr>
          <p:nvPr/>
        </p:nvSpPr>
        <p:spPr>
          <a:xfrm xmlns:a="http://schemas.openxmlformats.org/drawingml/2006/main">
            <a:off x="609600" y="17145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F4E79"/>
                </a:solidFill>
                <a:latin typeface="Arial"/>
                <a:ea typeface="Arial"/>
                <a:cs typeface="Arial"/>
              </a:defRPr>
            </a:pPr>
            <a:r>
              <a:rPr sz="1800" b="0">
                <a:solidFill>
                  <a:srgbClr val="1F4E79"/>
                </a:solidFill>
                <a:latin typeface="Arial"/>
                <a:ea typeface="Arial"/>
                <a:cs typeface="Arial"/>
              </a:rPr>
              <a:t>React + TypeScript + Three.js · Web Worker · Python/FastAPI · SQLite + IndexedDB</a:t>
            </a:r>
          </a:p>
        </p:txBody>
      </p:sp>
      <p:sp>
        <p:nvSpPr>
          <p:cNvPr id="17414" name="method pointer">
            <a:extLst xmlns:a="http://schemas.openxmlformats.org/drawingml/2006/main">
              <a:ext uri="{FF2B5EF4-FFF2-40B4-BE49-F238E27FC236}">
                <a16:creationId xmlns:a16="http://schemas.microsoft.com/office/drawing/2014/main" id="{3DD9EC96-1776-462E-A8DD-D9A65647D07E}"/>
              </a:ext>
            </a:extLst>
          </p:cNvPr>
          <p:cNvSpPr>
            <a:spLocks xmlns:a="http://schemas.openxmlformats.org/drawingml/2006/main" noGrp="1"/>
          </p:cNvSpPr>
          <p:nvPr/>
        </p:nvSpPr>
        <p:spPr>
          <a:xfrm xmlns:a="http://schemas.openxmlformats.org/drawingml/2006/main">
            <a:off x="609600" y="2133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111111"/>
                </a:solidFill>
                <a:latin typeface="Arial"/>
                <a:ea typeface="Arial"/>
                <a:cs typeface="Arial"/>
              </a:defRPr>
            </a:pPr>
            <a:r>
              <a:rPr sz="1650" b="1">
                <a:solidFill>
                  <a:srgbClr val="111111"/>
                </a:solidFill>
                <a:latin typeface="Arial"/>
                <a:ea typeface="Arial"/>
                <a:cs typeface="Arial"/>
              </a:rPr>
              <a:t>Methodology and process for implementation (Flow Charts/Images/ working prototype)</a:t>
            </a:r>
          </a:p>
        </p:txBody>
      </p:sp>
      <p:sp>
        <p:nvSpPr>
          <p:cNvPr id="17415" name="">
            <a:extLst xmlns:a="http://schemas.openxmlformats.org/drawingml/2006/main">
              <a:ext uri="{FF2B5EF4-FFF2-40B4-BE49-F238E27FC236}">
                <a16:creationId xmlns:a16="http://schemas.microsoft.com/office/drawing/2014/main" id="{8985FE57-B62E-4190-BB34-6E85A3F3BF32}"/>
              </a:ext>
            </a:extLst>
          </p:cNvPr>
          <p:cNvSpPr>
            <a:spLocks xmlns:a="http://schemas.openxmlformats.org/drawingml/2006/main" noGrp="1"/>
          </p:cNvSpPr>
          <p:nvPr/>
        </p:nvSpPr>
        <p:spPr>
          <a:xfrm xmlns:a="http://schemas.openxmlformats.org/drawingml/2006/main">
            <a:off x="609600" y="2781300"/>
            <a:ext cx="2714625" cy="857250"/>
          </a:xfrm>
          <a:prstGeom xmlns:a="http://schemas.openxmlformats.org/drawingml/2006/main" prst="rect">
            <a:avLst/>
          </a:prstGeom>
          <a:solidFill xmlns:a="http://schemas.openxmlformats.org/drawingml/2006/main">
            <a:srgbClr val="EDF4FA"/>
          </a:solidFill>
          <a:ln xmlns:a="http://schemas.openxmlformats.org/drawingml/2006/main" w="9525">
            <a:solidFill>
              <a:srgbClr val="1F4E79"/>
            </a:solidFill>
          </a:ln>
        </p:spPr>
      </p:sp>
      <p:sp>
        <p:nvSpPr>
          <p:cNvPr id="17416" name="Trainee browser">
            <a:extLst xmlns:a="http://schemas.openxmlformats.org/drawingml/2006/main">
              <a:ext uri="{FF2B5EF4-FFF2-40B4-BE49-F238E27FC236}">
                <a16:creationId xmlns:a16="http://schemas.microsoft.com/office/drawing/2014/main" id="{ACFF408B-7CF4-42C4-8856-10A54E4987BA}"/>
              </a:ext>
            </a:extLst>
          </p:cNvPr>
          <p:cNvSpPr>
            <a:spLocks xmlns:a="http://schemas.openxmlformats.org/drawingml/2006/main" noGrp="1"/>
          </p:cNvSpPr>
          <p:nvPr/>
        </p:nvSpPr>
        <p:spPr>
          <a:xfrm xmlns:a="http://schemas.openxmlformats.org/drawingml/2006/main">
            <a:off x="742950" y="285750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Trainee browser</a:t>
            </a:r>
          </a:p>
        </p:txBody>
      </p:sp>
      <p:sp>
        <p:nvSpPr>
          <p:cNvPr id="17417" name="Trainee browser detail">
            <a:extLst xmlns:a="http://schemas.openxmlformats.org/drawingml/2006/main">
              <a:ext uri="{FF2B5EF4-FFF2-40B4-BE49-F238E27FC236}">
                <a16:creationId xmlns:a16="http://schemas.microsoft.com/office/drawing/2014/main" id="{27B89509-1818-4643-9C2A-3FF5A93308D7}"/>
              </a:ext>
            </a:extLst>
          </p:cNvPr>
          <p:cNvSpPr>
            <a:spLocks xmlns:a="http://schemas.openxmlformats.org/drawingml/2006/main" noGrp="1"/>
          </p:cNvSpPr>
          <p:nvPr/>
        </p:nvSpPr>
        <p:spPr>
          <a:xfrm xmlns:a="http://schemas.openxmlformats.org/drawingml/2006/main">
            <a:off x="742950" y="319087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Observe, classify, respond</a:t>
            </a:r>
          </a:p>
        </p:txBody>
      </p:sp>
      <p:sp>
        <p:nvSpPr>
          <p:cNvPr id="17418" name="">
            <a:extLst xmlns:a="http://schemas.openxmlformats.org/drawingml/2006/main">
              <a:ext uri="{FF2B5EF4-FFF2-40B4-BE49-F238E27FC236}">
                <a16:creationId xmlns:a16="http://schemas.microsoft.com/office/drawing/2014/main" id="{B0D8A7CD-A0DD-4D8B-B7AF-47FB01780CAB}"/>
              </a:ext>
            </a:extLst>
          </p:cNvPr>
          <p:cNvSpPr>
            <a:spLocks xmlns:a="http://schemas.openxmlformats.org/drawingml/2006/main" noGrp="1"/>
          </p:cNvSpPr>
          <p:nvPr/>
        </p:nvSpPr>
        <p:spPr>
          <a:xfrm xmlns:a="http://schemas.openxmlformats.org/drawingml/2006/main">
            <a:off x="4733925" y="2781300"/>
            <a:ext cx="2714625" cy="857250"/>
          </a:xfrm>
          <a:prstGeom xmlns:a="http://schemas.openxmlformats.org/drawingml/2006/main" prst="rect">
            <a:avLst/>
          </a:prstGeom>
          <a:solidFill xmlns:a="http://schemas.openxmlformats.org/drawingml/2006/main">
            <a:srgbClr val="EDF4FA"/>
          </a:solidFill>
          <a:ln xmlns:a="http://schemas.openxmlformats.org/drawingml/2006/main" w="9525">
            <a:solidFill>
              <a:srgbClr val="1F4E79"/>
            </a:solidFill>
          </a:ln>
        </p:spPr>
      </p:sp>
      <p:sp>
        <p:nvSpPr>
          <p:cNvPr id="17419" name="30 Hz Worker">
            <a:extLst xmlns:a="http://schemas.openxmlformats.org/drawingml/2006/main">
              <a:ext uri="{FF2B5EF4-FFF2-40B4-BE49-F238E27FC236}">
                <a16:creationId xmlns:a16="http://schemas.microsoft.com/office/drawing/2014/main" id="{FF331E8A-8CD9-4417-83F5-7EF998E4CB9F}"/>
              </a:ext>
            </a:extLst>
          </p:cNvPr>
          <p:cNvSpPr>
            <a:spLocks xmlns:a="http://schemas.openxmlformats.org/drawingml/2006/main" noGrp="1"/>
          </p:cNvSpPr>
          <p:nvPr/>
        </p:nvSpPr>
        <p:spPr>
          <a:xfrm xmlns:a="http://schemas.openxmlformats.org/drawingml/2006/main">
            <a:off x="4867275" y="285750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30 Hz Worker</a:t>
            </a:r>
          </a:p>
        </p:txBody>
      </p:sp>
      <p:sp>
        <p:nvSpPr>
          <p:cNvPr id="17420" name="30 Hz Worker detail">
            <a:extLst xmlns:a="http://schemas.openxmlformats.org/drawingml/2006/main">
              <a:ext uri="{FF2B5EF4-FFF2-40B4-BE49-F238E27FC236}">
                <a16:creationId xmlns:a16="http://schemas.microsoft.com/office/drawing/2014/main" id="{39F84E18-CDE8-4FB4-A93E-633C93DD6445}"/>
              </a:ext>
            </a:extLst>
          </p:cNvPr>
          <p:cNvSpPr>
            <a:spLocks xmlns:a="http://schemas.openxmlformats.org/drawingml/2006/main" noGrp="1"/>
          </p:cNvSpPr>
          <p:nvPr/>
        </p:nvSpPr>
        <p:spPr>
          <a:xfrm xmlns:a="http://schemas.openxmlformats.org/drawingml/2006/main">
            <a:off x="4867275" y="319087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Seeded sensors + Red Force</a:t>
            </a:r>
          </a:p>
        </p:txBody>
      </p:sp>
      <p:sp>
        <p:nvSpPr>
          <p:cNvPr id="17421" name="">
            <a:extLst xmlns:a="http://schemas.openxmlformats.org/drawingml/2006/main">
              <a:ext uri="{FF2B5EF4-FFF2-40B4-BE49-F238E27FC236}">
                <a16:creationId xmlns:a16="http://schemas.microsoft.com/office/drawing/2014/main" id="{81BF5B3D-EB7D-4725-8240-DCD99BDCC7F4}"/>
              </a:ext>
            </a:extLst>
          </p:cNvPr>
          <p:cNvSpPr>
            <a:spLocks xmlns:a="http://schemas.openxmlformats.org/drawingml/2006/main" noGrp="1"/>
          </p:cNvSpPr>
          <p:nvPr/>
        </p:nvSpPr>
        <p:spPr>
          <a:xfrm xmlns:a="http://schemas.openxmlformats.org/drawingml/2006/main">
            <a:off x="8858250" y="2781300"/>
            <a:ext cx="2714625" cy="857250"/>
          </a:xfrm>
          <a:prstGeom xmlns:a="http://schemas.openxmlformats.org/drawingml/2006/main" prst="rect">
            <a:avLst/>
          </a:prstGeom>
          <a:solidFill xmlns:a="http://schemas.openxmlformats.org/drawingml/2006/main">
            <a:srgbClr val="EDF4FA"/>
          </a:solidFill>
          <a:ln xmlns:a="http://schemas.openxmlformats.org/drawingml/2006/main" w="9525">
            <a:solidFill>
              <a:srgbClr val="1F4E79"/>
            </a:solidFill>
          </a:ln>
        </p:spPr>
      </p:sp>
      <p:sp>
        <p:nvSpPr>
          <p:cNvPr id="17422" name="Local FastAPI">
            <a:extLst xmlns:a="http://schemas.openxmlformats.org/drawingml/2006/main">
              <a:ext uri="{FF2B5EF4-FFF2-40B4-BE49-F238E27FC236}">
                <a16:creationId xmlns:a16="http://schemas.microsoft.com/office/drawing/2014/main" id="{0780DDC4-3F4B-41C3-B86C-952B3EA84888}"/>
              </a:ext>
            </a:extLst>
          </p:cNvPr>
          <p:cNvSpPr>
            <a:spLocks xmlns:a="http://schemas.openxmlformats.org/drawingml/2006/main" noGrp="1"/>
          </p:cNvSpPr>
          <p:nvPr/>
        </p:nvSpPr>
        <p:spPr>
          <a:xfrm xmlns:a="http://schemas.openxmlformats.org/drawingml/2006/main">
            <a:off x="8991600" y="285750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Local FastAPI</a:t>
            </a:r>
          </a:p>
        </p:txBody>
      </p:sp>
      <p:sp>
        <p:nvSpPr>
          <p:cNvPr id="17423" name="Local FastAPI detail">
            <a:extLst xmlns:a="http://schemas.openxmlformats.org/drawingml/2006/main">
              <a:ext uri="{FF2B5EF4-FFF2-40B4-BE49-F238E27FC236}">
                <a16:creationId xmlns:a16="http://schemas.microsoft.com/office/drawing/2014/main" id="{AD6ADFDB-31F0-41F8-8A0D-CBF38DE31B28}"/>
              </a:ext>
            </a:extLst>
          </p:cNvPr>
          <p:cNvSpPr>
            <a:spLocks xmlns:a="http://schemas.openxmlformats.org/drawingml/2006/main" noGrp="1"/>
          </p:cNvSpPr>
          <p:nvPr/>
        </p:nvSpPr>
        <p:spPr>
          <a:xfrm xmlns:a="http://schemas.openxmlformats.org/drawingml/2006/main">
            <a:off x="8991600" y="319087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Validate + reconstruct score</a:t>
            </a:r>
          </a:p>
        </p:txBody>
      </p:sp>
      <p:sp>
        <p:nvSpPr>
          <p:cNvPr id="17424" name="">
            <a:extLst xmlns:a="http://schemas.openxmlformats.org/drawingml/2006/main">
              <a:ext uri="{FF2B5EF4-FFF2-40B4-BE49-F238E27FC236}">
                <a16:creationId xmlns:a16="http://schemas.microsoft.com/office/drawing/2014/main" id="{1AFD983C-D4FA-4B05-BFB6-23BE93DA4C55}"/>
              </a:ext>
            </a:extLst>
          </p:cNvPr>
          <p:cNvSpPr>
            <a:spLocks xmlns:a="http://schemas.openxmlformats.org/drawingml/2006/main" noGrp="1"/>
          </p:cNvSpPr>
          <p:nvPr/>
        </p:nvSpPr>
        <p:spPr>
          <a:xfrm xmlns:a="http://schemas.openxmlformats.org/drawingml/2006/main">
            <a:off x="3543300" y="3009900"/>
            <a:ext cx="838200" cy="333375"/>
          </a:xfrm>
          <a:prstGeom xmlns:a="http://schemas.openxmlformats.org/drawingml/2006/main" prst="rightArrow">
            <a:avLst/>
          </a:prstGeom>
          <a:solidFill xmlns:a="http://schemas.openxmlformats.org/drawingml/2006/main">
            <a:srgbClr val="1F4E79"/>
          </a:solidFill>
          <a:ln xmlns:a="http://schemas.openxmlformats.org/drawingml/2006/main" w="0">
            <a:noFill/>
          </a:ln>
        </p:spPr>
      </p:sp>
      <p:sp>
        <p:nvSpPr>
          <p:cNvPr id="17425" name="">
            <a:extLst xmlns:a="http://schemas.openxmlformats.org/drawingml/2006/main">
              <a:ext uri="{FF2B5EF4-FFF2-40B4-BE49-F238E27FC236}">
                <a16:creationId xmlns:a16="http://schemas.microsoft.com/office/drawing/2014/main" id="{AB7CE2A1-3A40-4274-A646-4F3DD54A8052}"/>
              </a:ext>
            </a:extLst>
          </p:cNvPr>
          <p:cNvSpPr>
            <a:spLocks xmlns:a="http://schemas.openxmlformats.org/drawingml/2006/main" noGrp="1"/>
          </p:cNvSpPr>
          <p:nvPr/>
        </p:nvSpPr>
        <p:spPr>
          <a:xfrm xmlns:a="http://schemas.openxmlformats.org/drawingml/2006/main">
            <a:off x="7667625" y="3009900"/>
            <a:ext cx="838200" cy="333375"/>
          </a:xfrm>
          <a:prstGeom xmlns:a="http://schemas.openxmlformats.org/drawingml/2006/main" prst="rightArrow">
            <a:avLst/>
          </a:prstGeom>
          <a:solidFill xmlns:a="http://schemas.openxmlformats.org/drawingml/2006/main">
            <a:srgbClr val="1F4E79"/>
          </a:solidFill>
          <a:ln xmlns:a="http://schemas.openxmlformats.org/drawingml/2006/main" w="0">
            <a:noFill/>
          </a:ln>
        </p:spPr>
      </p:sp>
      <p:sp>
        <p:nvSpPr>
          <p:cNvPr id="17426" name="">
            <a:extLst xmlns:a="http://schemas.openxmlformats.org/drawingml/2006/main">
              <a:ext uri="{FF2B5EF4-FFF2-40B4-BE49-F238E27FC236}">
                <a16:creationId xmlns:a16="http://schemas.microsoft.com/office/drawing/2014/main" id="{1A52BC5A-2C05-44B7-8F08-028D2B896CA8}"/>
              </a:ext>
            </a:extLst>
          </p:cNvPr>
          <p:cNvSpPr>
            <a:spLocks xmlns:a="http://schemas.openxmlformats.org/drawingml/2006/main" noGrp="1"/>
          </p:cNvSpPr>
          <p:nvPr/>
        </p:nvSpPr>
        <p:spPr>
          <a:xfrm xmlns:a="http://schemas.openxmlformats.org/drawingml/2006/main">
            <a:off x="9953625" y="3733800"/>
            <a:ext cx="428625" cy="447675"/>
          </a:xfrm>
          <a:prstGeom xmlns:a="http://schemas.openxmlformats.org/drawingml/2006/main" prst="downArrow">
            <a:avLst/>
          </a:prstGeom>
          <a:solidFill xmlns:a="http://schemas.openxmlformats.org/drawingml/2006/main">
            <a:srgbClr val="1F4E79"/>
          </a:solidFill>
          <a:ln xmlns:a="http://schemas.openxmlformats.org/drawingml/2006/main" w="0">
            <a:noFill/>
          </a:ln>
        </p:spPr>
      </p:sp>
      <p:sp>
        <p:nvSpPr>
          <p:cNvPr id="17427" name="">
            <a:extLst xmlns:a="http://schemas.openxmlformats.org/drawingml/2006/main">
              <a:ext uri="{FF2B5EF4-FFF2-40B4-BE49-F238E27FC236}">
                <a16:creationId xmlns:a16="http://schemas.microsoft.com/office/drawing/2014/main" id="{C9682D6E-5D0A-4032-8AFD-90FA4C1523F3}"/>
              </a:ext>
            </a:extLst>
          </p:cNvPr>
          <p:cNvSpPr>
            <a:spLocks xmlns:a="http://schemas.openxmlformats.org/drawingml/2006/main" noGrp="1"/>
          </p:cNvSpPr>
          <p:nvPr/>
        </p:nvSpPr>
        <p:spPr>
          <a:xfrm xmlns:a="http://schemas.openxmlformats.org/drawingml/2006/main">
            <a:off x="609600" y="4286250"/>
            <a:ext cx="2714625" cy="857250"/>
          </a:xfrm>
          <a:prstGeom xmlns:a="http://schemas.openxmlformats.org/drawingml/2006/main" prst="rect">
            <a:avLst/>
          </a:prstGeom>
          <a:solidFill xmlns:a="http://schemas.openxmlformats.org/drawingml/2006/main">
            <a:srgbClr val="EDF4FA"/>
          </a:solidFill>
          <a:ln xmlns:a="http://schemas.openxmlformats.org/drawingml/2006/main" w="9525">
            <a:solidFill>
              <a:srgbClr val="1F4E79"/>
            </a:solidFill>
          </a:ln>
        </p:spPr>
      </p:sp>
      <p:sp>
        <p:nvSpPr>
          <p:cNvPr id="17428" name="Profile + Director">
            <a:extLst xmlns:a="http://schemas.openxmlformats.org/drawingml/2006/main">
              <a:ext uri="{FF2B5EF4-FFF2-40B4-BE49-F238E27FC236}">
                <a16:creationId xmlns:a16="http://schemas.microsoft.com/office/drawing/2014/main" id="{F006D79A-2ED8-4CE7-A262-980E2821B1EE}"/>
              </a:ext>
            </a:extLst>
          </p:cNvPr>
          <p:cNvSpPr>
            <a:spLocks xmlns:a="http://schemas.openxmlformats.org/drawingml/2006/main" noGrp="1"/>
          </p:cNvSpPr>
          <p:nvPr/>
        </p:nvSpPr>
        <p:spPr>
          <a:xfrm xmlns:a="http://schemas.openxmlformats.org/drawingml/2006/main">
            <a:off x="742950" y="436245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Profile + Director</a:t>
            </a:r>
          </a:p>
        </p:txBody>
      </p:sp>
      <p:sp>
        <p:nvSpPr>
          <p:cNvPr id="17429" name="Profile + Director detail">
            <a:extLst xmlns:a="http://schemas.openxmlformats.org/drawingml/2006/main">
              <a:ext uri="{FF2B5EF4-FFF2-40B4-BE49-F238E27FC236}">
                <a16:creationId xmlns:a16="http://schemas.microsoft.com/office/drawing/2014/main" id="{C180D7C8-57F0-47B9-8EDF-5EFFA9AB5E98}"/>
              </a:ext>
            </a:extLst>
          </p:cNvPr>
          <p:cNvSpPr>
            <a:spLocks xmlns:a="http://schemas.openxmlformats.org/drawingml/2006/main" noGrp="1"/>
          </p:cNvSpPr>
          <p:nvPr/>
        </p:nvSpPr>
        <p:spPr>
          <a:xfrm xmlns:a="http://schemas.openxmlformats.org/drawingml/2006/main">
            <a:off x="742950" y="469582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4 Beta skills → next drill</a:t>
            </a:r>
          </a:p>
        </p:txBody>
      </p:sp>
      <p:sp>
        <p:nvSpPr>
          <p:cNvPr id="17430" name="">
            <a:extLst xmlns:a="http://schemas.openxmlformats.org/drawingml/2006/main">
              <a:ext uri="{FF2B5EF4-FFF2-40B4-BE49-F238E27FC236}">
                <a16:creationId xmlns:a16="http://schemas.microsoft.com/office/drawing/2014/main" id="{DDE52E35-0F2F-40E1-90AE-C141D455FB57}"/>
              </a:ext>
            </a:extLst>
          </p:cNvPr>
          <p:cNvSpPr>
            <a:spLocks xmlns:a="http://schemas.openxmlformats.org/drawingml/2006/main" noGrp="1"/>
          </p:cNvSpPr>
          <p:nvPr/>
        </p:nvSpPr>
        <p:spPr>
          <a:xfrm xmlns:a="http://schemas.openxmlformats.org/drawingml/2006/main">
            <a:off x="4733925" y="4286250"/>
            <a:ext cx="2714625" cy="857250"/>
          </a:xfrm>
          <a:prstGeom xmlns:a="http://schemas.openxmlformats.org/drawingml/2006/main" prst="rect">
            <a:avLst/>
          </a:prstGeom>
          <a:solidFill xmlns:a="http://schemas.openxmlformats.org/drawingml/2006/main">
            <a:srgbClr val="EDF4FA"/>
          </a:solidFill>
          <a:ln xmlns:a="http://schemas.openxmlformats.org/drawingml/2006/main" w="9525">
            <a:solidFill>
              <a:srgbClr val="1F4E79"/>
            </a:solidFill>
          </a:ln>
        </p:spPr>
      </p:sp>
      <p:sp>
        <p:nvSpPr>
          <p:cNvPr id="17431" name="Ghost + Time Machine">
            <a:extLst xmlns:a="http://schemas.openxmlformats.org/drawingml/2006/main">
              <a:ext uri="{FF2B5EF4-FFF2-40B4-BE49-F238E27FC236}">
                <a16:creationId xmlns:a16="http://schemas.microsoft.com/office/drawing/2014/main" id="{EF6842A5-1C8F-452D-A1E5-13C582B3CB0B}"/>
              </a:ext>
            </a:extLst>
          </p:cNvPr>
          <p:cNvSpPr>
            <a:spLocks xmlns:a="http://schemas.openxmlformats.org/drawingml/2006/main" noGrp="1"/>
          </p:cNvSpPr>
          <p:nvPr/>
        </p:nvSpPr>
        <p:spPr>
          <a:xfrm xmlns:a="http://schemas.openxmlformats.org/drawingml/2006/main">
            <a:off x="4867275" y="436245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1F4E79"/>
                </a:solidFill>
                <a:latin typeface="Arial"/>
                <a:ea typeface="Arial"/>
                <a:cs typeface="Arial"/>
              </a:defRPr>
            </a:pPr>
            <a:r>
              <a:rPr sz="1500" b="1">
                <a:solidFill>
                  <a:srgbClr val="1F4E79"/>
                </a:solidFill>
                <a:latin typeface="Arial"/>
                <a:ea typeface="Arial"/>
                <a:cs typeface="Arial"/>
              </a:rPr>
              <a:t>Ghost + Time Machine</a:t>
            </a:r>
          </a:p>
        </p:txBody>
      </p:sp>
      <p:sp>
        <p:nvSpPr>
          <p:cNvPr id="17432" name="Ghost + Time Machine detail">
            <a:extLst xmlns:a="http://schemas.openxmlformats.org/drawingml/2006/main">
              <a:ext uri="{FF2B5EF4-FFF2-40B4-BE49-F238E27FC236}">
                <a16:creationId xmlns:a16="http://schemas.microsoft.com/office/drawing/2014/main" id="{06D21831-9EE8-487F-AF80-B3D7327E1054}"/>
              </a:ext>
            </a:extLst>
          </p:cNvPr>
          <p:cNvSpPr>
            <a:spLocks xmlns:a="http://schemas.openxmlformats.org/drawingml/2006/main" noGrp="1"/>
          </p:cNvSpPr>
          <p:nvPr/>
        </p:nvSpPr>
        <p:spPr>
          <a:xfrm xmlns:a="http://schemas.openxmlformats.org/drawingml/2006/main">
            <a:off x="4867275" y="469582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Explain facts; replay decisions</a:t>
            </a:r>
          </a:p>
        </p:txBody>
      </p:sp>
      <p:sp>
        <p:nvSpPr>
          <p:cNvPr id="17433" name="">
            <a:extLst xmlns:a="http://schemas.openxmlformats.org/drawingml/2006/main">
              <a:ext uri="{FF2B5EF4-FFF2-40B4-BE49-F238E27FC236}">
                <a16:creationId xmlns:a16="http://schemas.microsoft.com/office/drawing/2014/main" id="{CFE11FAE-D89D-45CA-BCFC-9BC2BC7B548E}"/>
              </a:ext>
            </a:extLst>
          </p:cNvPr>
          <p:cNvSpPr>
            <a:spLocks xmlns:a="http://schemas.openxmlformats.org/drawingml/2006/main" noGrp="1"/>
          </p:cNvSpPr>
          <p:nvPr/>
        </p:nvSpPr>
        <p:spPr>
          <a:xfrm xmlns:a="http://schemas.openxmlformats.org/drawingml/2006/main">
            <a:off x="8858250" y="4286250"/>
            <a:ext cx="2714625" cy="857250"/>
          </a:xfrm>
          <a:prstGeom xmlns:a="http://schemas.openxmlformats.org/drawingml/2006/main" prst="rect">
            <a:avLst/>
          </a:prstGeom>
          <a:solidFill xmlns:a="http://schemas.openxmlformats.org/drawingml/2006/main">
            <a:srgbClr val="EDF4FA"/>
          </a:solidFill>
          <a:ln xmlns:a="http://schemas.openxmlformats.org/drawingml/2006/main" w="9525">
            <a:solidFill>
              <a:srgbClr val="1F4E79"/>
            </a:solidFill>
          </a:ln>
        </p:spPr>
      </p:sp>
      <p:sp>
        <p:nvSpPr>
          <p:cNvPr id="17434" name="Local SQLite">
            <a:extLst xmlns:a="http://schemas.openxmlformats.org/drawingml/2006/main">
              <a:ext uri="{FF2B5EF4-FFF2-40B4-BE49-F238E27FC236}">
                <a16:creationId xmlns:a16="http://schemas.microsoft.com/office/drawing/2014/main" id="{98DFE496-39C4-446C-BEFE-F64DB4E66530}"/>
              </a:ext>
            </a:extLst>
          </p:cNvPr>
          <p:cNvSpPr>
            <a:spLocks xmlns:a="http://schemas.openxmlformats.org/drawingml/2006/main" noGrp="1"/>
          </p:cNvSpPr>
          <p:nvPr/>
        </p:nvSpPr>
        <p:spPr>
          <a:xfrm xmlns:a="http://schemas.openxmlformats.org/drawingml/2006/main">
            <a:off x="8991600" y="4362450"/>
            <a:ext cx="2447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Local SQLite</a:t>
            </a:r>
          </a:p>
        </p:txBody>
      </p:sp>
      <p:sp>
        <p:nvSpPr>
          <p:cNvPr id="17435" name="Local SQLite detail">
            <a:extLst xmlns:a="http://schemas.openxmlformats.org/drawingml/2006/main">
              <a:ext uri="{FF2B5EF4-FFF2-40B4-BE49-F238E27FC236}">
                <a16:creationId xmlns:a16="http://schemas.microsoft.com/office/drawing/2014/main" id="{CC018345-C1B8-48B7-A6A1-22469765B524}"/>
              </a:ext>
            </a:extLst>
          </p:cNvPr>
          <p:cNvSpPr>
            <a:spLocks xmlns:a="http://schemas.openxmlformats.org/drawingml/2006/main" noGrp="1"/>
          </p:cNvSpPr>
          <p:nvPr/>
        </p:nvSpPr>
        <p:spPr>
          <a:xfrm xmlns:a="http://schemas.openxmlformats.org/drawingml/2006/main">
            <a:off x="8991600" y="4695825"/>
            <a:ext cx="2447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Sessions + outcome ledger</a:t>
            </a:r>
          </a:p>
        </p:txBody>
      </p:sp>
      <p:sp>
        <p:nvSpPr>
          <p:cNvPr id="17436" name="">
            <a:extLst xmlns:a="http://schemas.openxmlformats.org/drawingml/2006/main">
              <a:ext uri="{FF2B5EF4-FFF2-40B4-BE49-F238E27FC236}">
                <a16:creationId xmlns:a16="http://schemas.microsoft.com/office/drawing/2014/main" id="{3F89D53A-05F4-456A-B58F-6BED5D1F5F68}"/>
              </a:ext>
            </a:extLst>
          </p:cNvPr>
          <p:cNvSpPr>
            <a:spLocks xmlns:a="http://schemas.openxmlformats.org/drawingml/2006/main" noGrp="1"/>
          </p:cNvSpPr>
          <p:nvPr/>
        </p:nvSpPr>
        <p:spPr>
          <a:xfrm xmlns:a="http://schemas.openxmlformats.org/drawingml/2006/main">
            <a:off x="3543300" y="4533900"/>
            <a:ext cx="838200" cy="333375"/>
          </a:xfrm>
          <a:prstGeom xmlns:a="http://schemas.openxmlformats.org/drawingml/2006/main" prst="leftArrow">
            <a:avLst/>
          </a:prstGeom>
          <a:solidFill xmlns:a="http://schemas.openxmlformats.org/drawingml/2006/main">
            <a:srgbClr val="1F4E79"/>
          </a:solidFill>
          <a:ln xmlns:a="http://schemas.openxmlformats.org/drawingml/2006/main" w="0">
            <a:noFill/>
          </a:ln>
        </p:spPr>
      </p:sp>
      <p:sp>
        <p:nvSpPr>
          <p:cNvPr id="17437" name="">
            <a:extLst xmlns:a="http://schemas.openxmlformats.org/drawingml/2006/main">
              <a:ext uri="{FF2B5EF4-FFF2-40B4-BE49-F238E27FC236}">
                <a16:creationId xmlns:a16="http://schemas.microsoft.com/office/drawing/2014/main" id="{3E583114-0177-473E-BC9F-36182A997BA6}"/>
              </a:ext>
            </a:extLst>
          </p:cNvPr>
          <p:cNvSpPr>
            <a:spLocks xmlns:a="http://schemas.openxmlformats.org/drawingml/2006/main" noGrp="1"/>
          </p:cNvSpPr>
          <p:nvPr/>
        </p:nvSpPr>
        <p:spPr>
          <a:xfrm xmlns:a="http://schemas.openxmlformats.org/drawingml/2006/main">
            <a:off x="7667625" y="4533900"/>
            <a:ext cx="838200" cy="333375"/>
          </a:xfrm>
          <a:prstGeom xmlns:a="http://schemas.openxmlformats.org/drawingml/2006/main" prst="leftArrow">
            <a:avLst/>
          </a:prstGeom>
          <a:solidFill xmlns:a="http://schemas.openxmlformats.org/drawingml/2006/main">
            <a:srgbClr val="1F4E79"/>
          </a:solidFill>
          <a:ln xmlns:a="http://schemas.openxmlformats.org/drawingml/2006/main" w="0">
            <a:noFill/>
          </a:ln>
        </p:spPr>
      </p:sp>
      <p:sp>
        <p:nvSpPr>
          <p:cNvPr id="17438" name="">
            <a:extLst xmlns:a="http://schemas.openxmlformats.org/drawingml/2006/main">
              <a:ext uri="{FF2B5EF4-FFF2-40B4-BE49-F238E27FC236}">
                <a16:creationId xmlns:a16="http://schemas.microsoft.com/office/drawing/2014/main" id="{C59CA5AC-8992-4292-9001-4346317489F6}"/>
              </a:ext>
            </a:extLst>
          </p:cNvPr>
          <p:cNvSpPr>
            <a:spLocks xmlns:a="http://schemas.openxmlformats.org/drawingml/2006/main" noGrp="1"/>
          </p:cNvSpPr>
          <p:nvPr/>
        </p:nvSpPr>
        <p:spPr>
          <a:xfrm xmlns:a="http://schemas.openxmlformats.org/drawingml/2006/main">
            <a:off x="1752600" y="3733800"/>
            <a:ext cx="428625" cy="447675"/>
          </a:xfrm>
          <a:prstGeom xmlns:a="http://schemas.openxmlformats.org/drawingml/2006/main" prst="upArrow">
            <a:avLst/>
          </a:prstGeom>
          <a:solidFill xmlns:a="http://schemas.openxmlformats.org/drawingml/2006/main">
            <a:srgbClr val="1F4E79"/>
          </a:solidFill>
          <a:ln xmlns:a="http://schemas.openxmlformats.org/drawingml/2006/main" w="0">
            <a:noFill/>
          </a:ln>
        </p:spPr>
      </p:sp>
      <p:graphicFrame>
        <p:nvGraphicFramePr>
          <p:cNvPr id="17473" name="Preserved decision tree rubric"/>
          <p:cNvGraphicFramePr/>
          <p:nvPr/>
        </p:nvGraphicFramePr>
        <p:xfrm>
          <a:off xmlns:a="http://schemas.openxmlformats.org/drawingml/2006/main" x="609600" y="5591175"/>
          <a:ext xmlns:a="http://schemas.openxmlformats.org/drawingml/2006/main" cx="10972800" cy="590550"/>
        </p:xfrm>
        <a:graphic xmlns:a="http://schemas.openxmlformats.org/drawingml/2006/main">
          <a:graphicData uri="http://schemas.openxmlformats.org/drawingml/2006/table">
            <a:tbl>
              <a:tblPr/>
              <a:tblGrid>
                <a:gridCol w="2743200"/>
                <a:gridCol w="2743200"/>
                <a:gridCol w="2743200"/>
                <a:gridCol w="2743200"/>
              </a:tblGrid>
              <a:tr h="295275">
                <a:tc>
                  <a:txBody>
                    <a:bodyPr/>
                    <a:lstStyle/>
                    <a:p>
                      <a:r>
                        <a:rPr sz="1500" b="1">
                          <a:solidFill>
                            <a:srgbClr val="FFFFFF"/>
                          </a:solidFill>
                          <a:latin typeface="Arial"/>
                          <a:ea typeface="Arial"/>
                          <a:cs typeface="Arial"/>
                        </a:rPr>
                        <a:t>Detect</a:t>
                      </a:r>
                    </a:p>
                  </a:txBody>
                  <a:tcPr marL="95250" marR="95250" marT="47625" marB="47625">
                    <a:solidFill>
                      <a:srgbClr val="1F4E79"/>
                    </a:solidFill>
                  </a:tcPr>
                </a:tc>
                <a:tc>
                  <a:txBody>
                    <a:bodyPr/>
                    <a:lstStyle/>
                    <a:p>
                      <a:r>
                        <a:rPr sz="1500" b="1">
                          <a:solidFill>
                            <a:srgbClr val="FFFFFF"/>
                          </a:solidFill>
                          <a:latin typeface="Arial"/>
                          <a:ea typeface="Arial"/>
                          <a:cs typeface="Arial"/>
                        </a:rPr>
                        <a:t>Classify</a:t>
                      </a:r>
                    </a:p>
                  </a:txBody>
                  <a:tcPr marL="95250" marR="95250" marT="47625" marB="47625">
                    <a:solidFill>
                      <a:srgbClr val="1F4E79"/>
                    </a:solidFill>
                  </a:tcPr>
                </a:tc>
                <a:tc>
                  <a:txBody>
                    <a:bodyPr/>
                    <a:lstStyle/>
                    <a:p>
                      <a:r>
                        <a:rPr sz="1500" b="1">
                          <a:solidFill>
                            <a:srgbClr val="FFFFFF"/>
                          </a:solidFill>
                          <a:latin typeface="Arial"/>
                          <a:ea typeface="Arial"/>
                          <a:cs typeface="Arial"/>
                        </a:rPr>
                        <a:t>Prioritise</a:t>
                      </a:r>
                    </a:p>
                  </a:txBody>
                  <a:tcPr marL="95250" marR="95250" marT="47625" marB="47625">
                    <a:solidFill>
                      <a:srgbClr val="1F4E79"/>
                    </a:solidFill>
                  </a:tcPr>
                </a:tc>
                <a:tc>
                  <a:txBody>
                    <a:bodyPr/>
                    <a:lstStyle/>
                    <a:p>
                      <a:r>
                        <a:rPr sz="1500" b="1">
                          <a:solidFill>
                            <a:srgbClr val="FFFFFF"/>
                          </a:solidFill>
                          <a:latin typeface="Arial"/>
                          <a:ea typeface="Arial"/>
                          <a:cs typeface="Arial"/>
                        </a:rPr>
                        <a:t>Engage</a:t>
                      </a:r>
                    </a:p>
                  </a:txBody>
                  <a:tcPr marL="95250" marR="95250" marT="47625" marB="47625">
                    <a:solidFill>
                      <a:srgbClr val="1F4E79"/>
                    </a:solidFill>
                  </a:tcPr>
                </a:tc>
              </a:tr>
              <a:tr h="295275">
                <a:tc>
                  <a:txBody>
                    <a:bodyPr/>
                    <a:lstStyle/>
                    <a:p>
                      <a:r>
                        <a:rPr sz="1500">
                          <a:solidFill>
                            <a:srgbClr val="111111"/>
                          </a:solidFill>
                          <a:latin typeface="Arial"/>
                          <a:ea typeface="Arial"/>
                          <a:cs typeface="Arial"/>
                        </a:rPr>
                        <a:t>25 points</a:t>
                      </a:r>
                    </a:p>
                  </a:txBody>
                  <a:tcPr marL="95250" marR="95250" marT="47625" marB="47625">
                    <a:solidFill>
                      <a:srgbClr val="FFFFFF"/>
                    </a:solidFill>
                  </a:tcPr>
                </a:tc>
                <a:tc>
                  <a:txBody>
                    <a:bodyPr/>
                    <a:lstStyle/>
                    <a:p>
                      <a:r>
                        <a:rPr sz="1500">
                          <a:solidFill>
                            <a:srgbClr val="111111"/>
                          </a:solidFill>
                          <a:latin typeface="Arial"/>
                          <a:ea typeface="Arial"/>
                          <a:cs typeface="Arial"/>
                        </a:rPr>
                        <a:t>25 points</a:t>
                      </a:r>
                    </a:p>
                  </a:txBody>
                  <a:tcPr marL="95250" marR="95250" marT="47625" marB="47625">
                    <a:solidFill>
                      <a:srgbClr val="FFFFFF"/>
                    </a:solidFill>
                  </a:tcPr>
                </a:tc>
                <a:tc>
                  <a:txBody>
                    <a:bodyPr/>
                    <a:lstStyle/>
                    <a:p>
                      <a:r>
                        <a:rPr sz="1500">
                          <a:solidFill>
                            <a:srgbClr val="111111"/>
                          </a:solidFill>
                          <a:latin typeface="Arial"/>
                          <a:ea typeface="Arial"/>
                          <a:cs typeface="Arial"/>
                        </a:rPr>
                        <a:t>15 points</a:t>
                      </a:r>
                    </a:p>
                  </a:txBody>
                  <a:tcPr marL="95250" marR="95250" marT="47625" marB="47625">
                    <a:solidFill>
                      <a:srgbClr val="FFFFFF"/>
                    </a:solidFill>
                  </a:tcPr>
                </a:tc>
                <a:tc>
                  <a:txBody>
                    <a:bodyPr/>
                    <a:lstStyle/>
                    <a:p>
                      <a:r>
                        <a:rPr sz="1500">
                          <a:solidFill>
                            <a:srgbClr val="111111"/>
                          </a:solidFill>
                          <a:latin typeface="Arial"/>
                          <a:ea typeface="Arial"/>
                          <a:cs typeface="Arial"/>
                        </a:rPr>
                        <a:t>35 points</a:t>
                      </a:r>
                    </a:p>
                  </a:txBody>
                  <a:tcPr marL="95250" marR="95250" marT="47625" marB="47625">
                    <a:solidFill>
                      <a:srgbClr val="FFFFFF"/>
                    </a:solidFill>
                  </a:tcPr>
                </a:tc>
              </a:tr>
            </a:tbl>
          </a:graphicData>
        </a:graphic>
      </p:graphicFrame>
    </p:spTree>
    <p:extLst>
      <p:ext uri="{BB962C8B-B14F-4D97-AF65-F5344CB8AC3E}">
        <p14:creationId xmlns:p14="http://schemas.microsoft.com/office/powerpoint/2010/main" val="205077892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3E838E2-7F1E-476C-8481-26461A919315}"/>
              </a:ext>
            </a:extLst>
          </p:cNvPr>
          <p:cNvSpPr>
            <a:spLocks xmlns:a="http://schemas.openxmlformats.org/drawingml/2006/main" noGrp="1"/>
          </p:cNvSpPr>
          <p:nvPr>
            <p:ph type="title" idx="0"/>
          </p:nvPr>
        </p:nvSpPr>
        <p:spPr>
          <a:xfrm xmlns:a="http://schemas.openxmlformats.org/drawingml/2006/main">
            <a:off x="1714500" y="95250"/>
            <a:ext cx="8001000" cy="1000125"/>
          </a:xfrm>
        </p:spPr>
        <p:txBody>
          <a:bodyPr xmlns:a="http://schemas.openxmlformats.org/drawingml/2006/main" lIns="19050" tIns="0" rIns="19050" bIns="0" anchor="ctr">
            <a:noAutofit/>
          </a:bodyPr>
          <a:lstStyle xmlns:a="http://schemas.openxmlformats.org/drawingml/2006/main"/>
          <a:p xmlns:a="http://schemas.openxmlformats.org/drawingml/2006/main">
            <a:pPr algn="ctr">
              <a:buNone/>
              <a:defRPr sz="3450" b="1">
                <a:solidFill>
                  <a:srgbClr val="111111"/>
                </a:solidFill>
                <a:latin typeface="Times New Roman"/>
                <a:ea typeface="Times New Roman"/>
                <a:cs typeface="Times New Roman"/>
              </a:defRPr>
            </a:pPr>
            <a:r>
              <a:rPr sz="3450" b="1">
                <a:solidFill>
                  <a:srgbClr val="111111"/>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F24ABBFB-59DF-40B0-9D65-F835885520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08EAA3F2-E0DA-427D-9284-8A5E3AFA5DB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19050" tIns="0" rIns="1905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WhiteList&amp;0</a:t>
            </a:r>
            <a:endParaRPr/>
          </a:p>
        </p:txBody>
      </p:sp>
      <p:pic>
        <p:nvPicPr>
          <p:cNvPr id="17427" name="Picture 10"/>
          <p:cNvPicPr>
            <a:picLocks xmlns:a="http://schemas.openxmlformats.org/drawingml/2006/main" noChangeAspect="1"/>
          </p:cNvPicPr>
          <p:nvPr/>
        </p:nvPicPr>
        <p:blipFill>
          <a:blip xmlns:r="http://schemas.openxmlformats.org/officeDocument/2006/relationships" xmlns:a="http://schemas.openxmlformats.org/drawingml/2006/main" r:embed="R5b6876f4cb1e4e6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feasibility pointer">
            <a:extLst xmlns:a="http://schemas.openxmlformats.org/drawingml/2006/main">
              <a:ext uri="{FF2B5EF4-FFF2-40B4-BE49-F238E27FC236}">
                <a16:creationId xmlns:a16="http://schemas.microsoft.com/office/drawing/2014/main" id="{A1078051-ACE1-471D-A75E-7C6435674AFA}"/>
              </a:ext>
            </a:extLst>
          </p:cNvPr>
          <p:cNvSpPr>
            <a:spLocks xmlns:a="http://schemas.openxmlformats.org/drawingml/2006/main" noGrp="1"/>
          </p:cNvSpPr>
          <p:nvPr/>
        </p:nvSpPr>
        <p:spPr>
          <a:xfrm xmlns:a="http://schemas.openxmlformats.org/drawingml/2006/main">
            <a:off x="609600" y="13239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Analysis of the feasibility of the idea</a:t>
            </a:r>
          </a:p>
        </p:txBody>
      </p:sp>
      <p:sp>
        <p:nvSpPr>
          <p:cNvPr id="17413" name="regression">
            <a:extLst xmlns:a="http://schemas.openxmlformats.org/drawingml/2006/main">
              <a:ext uri="{FF2B5EF4-FFF2-40B4-BE49-F238E27FC236}">
                <a16:creationId xmlns:a16="http://schemas.microsoft.com/office/drawing/2014/main" id="{BCABC370-72E6-46EB-B5F0-A7773C1A38C5}"/>
              </a:ext>
            </a:extLst>
          </p:cNvPr>
          <p:cNvSpPr>
            <a:spLocks xmlns:a="http://schemas.openxmlformats.org/drawingml/2006/main" noGrp="1"/>
          </p:cNvSpPr>
          <p:nvPr/>
        </p:nvSpPr>
        <p:spPr>
          <a:xfrm xmlns:a="http://schemas.openxmlformats.org/drawingml/2006/main">
            <a:off x="609600" y="17049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1F4E79"/>
                </a:solidFill>
                <a:latin typeface="Arial"/>
                <a:ea typeface="Arial"/>
                <a:cs typeface="Arial"/>
              </a:defRPr>
            </a:pPr>
            <a:r>
              <a:rPr sz="2025" b="1">
                <a:solidFill>
                  <a:srgbClr val="1F4E79"/>
                </a:solidFill>
                <a:latin typeface="Arial"/>
                <a:ea typeface="Arial"/>
                <a:cs typeface="Arial"/>
              </a:rPr>
              <a:t>134 backend · 44 frontend · 312 parity checkpoints · 22 local assets</a:t>
            </a:r>
          </a:p>
        </p:txBody>
      </p:sp>
      <p:sp>
        <p:nvSpPr>
          <p:cNvPr id="17414" name="LAN claim">
            <a:extLst xmlns:a="http://schemas.openxmlformats.org/drawingml/2006/main">
              <a:ext uri="{FF2B5EF4-FFF2-40B4-BE49-F238E27FC236}">
                <a16:creationId xmlns:a16="http://schemas.microsoft.com/office/drawing/2014/main" id="{D740BD89-F69A-4FBE-9046-724CCBA1D50A}"/>
              </a:ext>
            </a:extLst>
          </p:cNvPr>
          <p:cNvSpPr>
            <a:spLocks xmlns:a="http://schemas.openxmlformats.org/drawingml/2006/main" noGrp="1"/>
          </p:cNvSpPr>
          <p:nvPr/>
        </p:nvSpPr>
        <p:spPr>
          <a:xfrm xmlns:a="http://schemas.openxmlformats.org/drawingml/2006/main">
            <a:off x="609600" y="21907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Physical multi-device LAN training was validated. Runtime assets and services are hosted locally;</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dedicated WAN-disconnected physical validation remains pending.</a:t>
            </a:r>
          </a:p>
        </p:txBody>
      </p:sp>
      <p:sp>
        <p:nvSpPr>
          <p:cNvPr id="17415" name="measured scope">
            <a:extLst xmlns:a="http://schemas.openxmlformats.org/drawingml/2006/main">
              <a:ext uri="{FF2B5EF4-FFF2-40B4-BE49-F238E27FC236}">
                <a16:creationId xmlns:a16="http://schemas.microsoft.com/office/drawing/2014/main" id="{D9784E71-6485-4D60-908B-21717199C23B}"/>
              </a:ext>
            </a:extLst>
          </p:cNvPr>
          <p:cNvSpPr>
            <a:spLocks xmlns:a="http://schemas.openxmlformats.org/drawingml/2006/main" noGrp="1"/>
          </p:cNvSpPr>
          <p:nvPr/>
        </p:nvSpPr>
        <p:spPr>
          <a:xfrm xmlns:a="http://schemas.openxmlformats.org/drawingml/2006/main">
            <a:off x="609600" y="2838450"/>
            <a:ext cx="561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M1 Air / 8 GB: median 60 FPS at 8–200</a:t>
            </a:r>
          </a:p>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contacts, fixed Medium, 20-second runs.</a:t>
            </a:r>
          </a:p>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Six simulated clients / 18 completions</a:t>
            </a:r>
          </a:p>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over loopback; physical Mac + Android LAN.</a:t>
            </a:r>
          </a:p>
        </p:txBody>
      </p:sp>
      <p:pic>
        <p:nvPicPr>
          <p:cNvPr id="17432" name=""/>
          <p:cNvPicPr>
            <a:picLocks xmlns:a="http://schemas.openxmlformats.org/drawingml/2006/main" noChangeAspect="1"/>
          </p:cNvPicPr>
          <p:nvPr/>
        </p:nvPicPr>
        <p:blipFill>
          <a:blip xmlns:r="http://schemas.openxmlformats.org/officeDocument/2006/relationships" xmlns:a="http://schemas.openxmlformats.org/drawingml/2006/main" r:embed="R168820248e2e4271"/>
          <a:stretch xmlns:a="http://schemas.openxmlformats.org/drawingml/2006/main"/>
        </p:blipFill>
        <p:spPr>
          <a:xfrm xmlns:a="http://schemas.openxmlformats.org/drawingml/2006/main">
            <a:off x="6572250" y="2829520"/>
            <a:ext cx="5010150" cy="2818209"/>
          </a:xfrm>
          <a:prstGeom xmlns:a="http://schemas.openxmlformats.org/drawingml/2006/main" prst="rect">
            <a:avLst/>
          </a:prstGeom>
        </p:spPr>
      </p:pic>
      <p:sp>
        <p:nvSpPr>
          <p:cNvPr id="17417" name="risks pointer">
            <a:extLst xmlns:a="http://schemas.openxmlformats.org/drawingml/2006/main">
              <a:ext uri="{FF2B5EF4-FFF2-40B4-BE49-F238E27FC236}">
                <a16:creationId xmlns:a16="http://schemas.microsoft.com/office/drawing/2014/main" id="{1493F3DC-3E9A-4920-89A9-8CAE804BEFC3}"/>
              </a:ext>
            </a:extLst>
          </p:cNvPr>
          <p:cNvSpPr>
            <a:spLocks xmlns:a="http://schemas.openxmlformats.org/drawingml/2006/main" noGrp="1"/>
          </p:cNvSpPr>
          <p:nvPr/>
        </p:nvSpPr>
        <p:spPr>
          <a:xfrm xmlns:a="http://schemas.openxmlformats.org/drawingml/2006/main">
            <a:off x="609600" y="3924300"/>
            <a:ext cx="5667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Potential challenges and risks</a:t>
            </a:r>
          </a:p>
        </p:txBody>
      </p:sp>
      <p:sp>
        <p:nvSpPr>
          <p:cNvPr id="17418" name="risks">
            <a:extLst xmlns:a="http://schemas.openxmlformats.org/drawingml/2006/main">
              <a:ext uri="{FF2B5EF4-FFF2-40B4-BE49-F238E27FC236}">
                <a16:creationId xmlns:a16="http://schemas.microsoft.com/office/drawing/2014/main" id="{02F66BF3-5258-4A49-B90D-363D3C12AE30}"/>
              </a:ext>
            </a:extLst>
          </p:cNvPr>
          <p:cNvSpPr>
            <a:spLocks xmlns:a="http://schemas.openxmlformats.org/drawingml/2006/main" noGrp="1"/>
          </p:cNvSpPr>
          <p:nvPr/>
        </p:nvSpPr>
        <p:spPr>
          <a:xfrm xmlns:a="http://schemas.openxmlformats.org/drawingml/2006/main">
            <a:off x="609600" y="4295775"/>
            <a:ext cx="5667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Trusted LAN, no production authentication.</a:t>
            </a:r>
          </a:p>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Illustrative laws; no human efficacy study.</a:t>
            </a:r>
          </a:p>
        </p:txBody>
      </p:sp>
      <p:sp>
        <p:nvSpPr>
          <p:cNvPr id="17419" name="strategies pointer">
            <a:extLst xmlns:a="http://schemas.openxmlformats.org/drawingml/2006/main">
              <a:ext uri="{FF2B5EF4-FFF2-40B4-BE49-F238E27FC236}">
                <a16:creationId xmlns:a16="http://schemas.microsoft.com/office/drawing/2014/main" id="{2E914620-1508-4DC3-B62A-1F87141927E0}"/>
              </a:ext>
            </a:extLst>
          </p:cNvPr>
          <p:cNvSpPr>
            <a:spLocks xmlns:a="http://schemas.openxmlformats.org/drawingml/2006/main" noGrp="1"/>
          </p:cNvSpPr>
          <p:nvPr/>
        </p:nvSpPr>
        <p:spPr>
          <a:xfrm xmlns:a="http://schemas.openxmlformats.org/drawingml/2006/main">
            <a:off x="609600" y="5029200"/>
            <a:ext cx="571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111111"/>
                </a:solidFill>
                <a:latin typeface="Arial"/>
                <a:ea typeface="Arial"/>
                <a:cs typeface="Arial"/>
              </a:defRPr>
            </a:pPr>
            <a:r>
              <a:rPr sz="1650" b="1">
                <a:solidFill>
                  <a:srgbClr val="111111"/>
                </a:solidFill>
                <a:latin typeface="Arial"/>
                <a:ea typeface="Arial"/>
                <a:cs typeface="Arial"/>
              </a:rPr>
              <a:t>Strategies for overcoming these challenges</a:t>
            </a:r>
          </a:p>
        </p:txBody>
      </p:sp>
      <p:sp>
        <p:nvSpPr>
          <p:cNvPr id="17420" name="strategies">
            <a:extLst xmlns:a="http://schemas.openxmlformats.org/drawingml/2006/main">
              <a:ext uri="{FF2B5EF4-FFF2-40B4-BE49-F238E27FC236}">
                <a16:creationId xmlns:a16="http://schemas.microsoft.com/office/drawing/2014/main" id="{6A7F2ACA-E6B9-471B-96CE-0B1241FB3B27}"/>
              </a:ext>
            </a:extLst>
          </p:cNvPr>
          <p:cNvSpPr>
            <a:spLocks xmlns:a="http://schemas.openxmlformats.org/drawingml/2006/main" noGrp="1"/>
          </p:cNvSpPr>
          <p:nvPr/>
        </p:nvSpPr>
        <p:spPr>
          <a:xfrm xmlns:a="http://schemas.openxmlformats.org/drawingml/2006/main">
            <a:off x="609600" y="5372100"/>
            <a:ext cx="5762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Local assets, queued recovery, backup/restore;</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Tactical 2D and recorded-demo fallbacks.</a:t>
            </a:r>
          </a:p>
        </p:txBody>
      </p:sp>
      <p:sp>
        <p:nvSpPr>
          <p:cNvPr id="17421" name="WAN exception">
            <a:extLst xmlns:a="http://schemas.openxmlformats.org/drawingml/2006/main">
              <a:ext uri="{FF2B5EF4-FFF2-40B4-BE49-F238E27FC236}">
                <a16:creationId xmlns:a16="http://schemas.microsoft.com/office/drawing/2014/main" id="{02CA2044-D75C-4C79-9B6C-EAD0570A9CBE}"/>
              </a:ext>
            </a:extLst>
          </p:cNvPr>
          <p:cNvSpPr>
            <a:spLocks xmlns:a="http://schemas.openxmlformats.org/drawingml/2006/main" noGrp="1"/>
          </p:cNvSpPr>
          <p:nvPr/>
        </p:nvSpPr>
        <p:spPr>
          <a:xfrm xmlns:a="http://schemas.openxmlformats.org/drawingml/2006/main">
            <a:off x="609600" y="59150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8A3A22"/>
                </a:solidFill>
                <a:latin typeface="Arial"/>
                <a:ea typeface="Arial"/>
                <a:cs typeface="Arial"/>
              </a:defRPr>
            </a:pPr>
            <a:r>
              <a:rPr sz="1350" b="1">
                <a:solidFill>
                  <a:srgbClr val="8A3A22"/>
                </a:solidFill>
                <a:latin typeface="Arial"/>
                <a:ea typeface="Arial"/>
                <a:cs typeface="Arial"/>
              </a:rPr>
              <a:t>Physical WAN-off/LAN-on: NOT PERFORMED BEFORE SUBMISSION</a:t>
            </a:r>
          </a:p>
          <a:p xmlns:a="http://schemas.openxmlformats.org/drawingml/2006/main">
            <a:pPr algn="l">
              <a:defRPr sz="1350" b="1">
                <a:solidFill>
                  <a:srgbClr val="8A3A22"/>
                </a:solidFill>
                <a:latin typeface="Arial"/>
                <a:ea typeface="Arial"/>
                <a:cs typeface="Arial"/>
              </a:defRPr>
            </a:pPr>
            <a:r>
              <a:rPr sz="1350" b="1">
                <a:solidFill>
                  <a:srgbClr val="8A3A22"/>
                </a:solidFill>
                <a:latin typeface="Arial"/>
                <a:ea typeface="Arial"/>
                <a:cs typeface="Arial"/>
              </a:rPr>
              <a:t>Reason: Required physical/network setup unavailable during final validation window.</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36BB40B6-B019-4A56-BF57-441205C1A809}"/>
              </a:ext>
            </a:extLst>
          </p:cNvPr>
          <p:cNvSpPr>
            <a:spLocks xmlns:a="http://schemas.openxmlformats.org/drawingml/2006/main" noGrp="1"/>
          </p:cNvSpPr>
          <p:nvPr>
            <p:ph type="title" idx="0"/>
          </p:nvPr>
        </p:nvSpPr>
        <p:spPr>
          <a:xfrm xmlns:a="http://schemas.openxmlformats.org/drawingml/2006/main">
            <a:off x="1714500" y="95250"/>
            <a:ext cx="8001000" cy="1000125"/>
          </a:xfrm>
        </p:spPr>
        <p:txBody>
          <a:bodyPr xmlns:a="http://schemas.openxmlformats.org/drawingml/2006/main" lIns="19050" tIns="0" rIns="19050" bIns="0" anchor="ctr">
            <a:noAutofit/>
          </a:bodyPr>
          <a:lstStyle xmlns:a="http://schemas.openxmlformats.org/drawingml/2006/main"/>
          <a:p xmlns:a="http://schemas.openxmlformats.org/drawingml/2006/main">
            <a:pPr algn="ctr">
              <a:buNone/>
              <a:defRPr sz="3450" b="1">
                <a:solidFill>
                  <a:srgbClr val="111111"/>
                </a:solidFill>
                <a:latin typeface="Times New Roman"/>
                <a:ea typeface="Times New Roman"/>
                <a:cs typeface="Times New Roman"/>
              </a:defRPr>
            </a:pPr>
            <a:r>
              <a:rPr sz="3450" b="1">
                <a:solidFill>
                  <a:srgbClr val="111111"/>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5C965F38-C247-41EB-A133-C00FC82356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094AD91C-EE7A-46FF-A646-3DFCDCAF511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19050" tIns="0" rIns="1905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WhiteList&amp;0</a:t>
            </a:r>
            <a:endParaRPr/>
          </a:p>
        </p:txBody>
      </p:sp>
      <p:pic>
        <p:nvPicPr>
          <p:cNvPr id="17426" name="Picture 10"/>
          <p:cNvPicPr>
            <a:picLocks xmlns:a="http://schemas.openxmlformats.org/drawingml/2006/main" noChangeAspect="1"/>
          </p:cNvPicPr>
          <p:nvPr/>
        </p:nvPicPr>
        <p:blipFill>
          <a:blip xmlns:r="http://schemas.openxmlformats.org/officeDocument/2006/relationships" xmlns:a="http://schemas.openxmlformats.org/drawingml/2006/main" r:embed="R767ac4ffbc9846b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impact pointer">
            <a:extLst xmlns:a="http://schemas.openxmlformats.org/drawingml/2006/main">
              <a:ext uri="{FF2B5EF4-FFF2-40B4-BE49-F238E27FC236}">
                <a16:creationId xmlns:a16="http://schemas.microsoft.com/office/drawing/2014/main" id="{4025B496-C512-4E79-AF96-5DA6FE4EAFCA}"/>
              </a:ext>
            </a:extLst>
          </p:cNvPr>
          <p:cNvSpPr>
            <a:spLocks xmlns:a="http://schemas.openxmlformats.org/drawingml/2006/main" noGrp="1"/>
          </p:cNvSpPr>
          <p:nvPr/>
        </p:nvSpPr>
        <p:spPr>
          <a:xfrm xmlns:a="http://schemas.openxmlformats.org/drawingml/2006/main">
            <a:off x="609600" y="13335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Potential impact on the target audience</a:t>
            </a:r>
          </a:p>
        </p:txBody>
      </p:sp>
      <p:sp>
        <p:nvSpPr>
          <p:cNvPr id="17413" name="intended impact">
            <a:extLst xmlns:a="http://schemas.openxmlformats.org/drawingml/2006/main">
              <a:ext uri="{FF2B5EF4-FFF2-40B4-BE49-F238E27FC236}">
                <a16:creationId xmlns:a16="http://schemas.microsoft.com/office/drawing/2014/main" id="{651B6FDA-88A5-4460-B41A-B8DA14C813F9}"/>
              </a:ext>
            </a:extLst>
          </p:cNvPr>
          <p:cNvSpPr>
            <a:spLocks xmlns:a="http://schemas.openxmlformats.org/drawingml/2006/main" noGrp="1"/>
          </p:cNvSpPr>
          <p:nvPr/>
        </p:nvSpPr>
        <p:spPr>
          <a:xfrm xmlns:a="http://schemas.openxmlformats.org/drawingml/2006/main">
            <a:off x="609600" y="183832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1F4E79"/>
                </a:solidFill>
                <a:latin typeface="Arial"/>
                <a:ea typeface="Arial"/>
                <a:cs typeface="Arial"/>
              </a:defRPr>
            </a:pPr>
            <a:r>
              <a:rPr sz="1950" b="1">
                <a:solidFill>
                  <a:srgbClr val="1F4E79"/>
                </a:solidFill>
                <a:latin typeface="Arial"/>
                <a:ea typeface="Arial"/>
                <a:cs typeface="Arial"/>
              </a:rPr>
              <a:t>Repeat mixed-contact decisions safely.</a:t>
            </a:r>
          </a:p>
          <a:p xmlns:a="http://schemas.openxmlformats.org/drawingml/2006/main">
            <a:pPr algn="l">
              <a:defRPr sz="1950" b="1">
                <a:solidFill>
                  <a:srgbClr val="1F4E79"/>
                </a:solidFill>
                <a:latin typeface="Arial"/>
                <a:ea typeface="Arial"/>
                <a:cs typeface="Arial"/>
              </a:defRPr>
            </a:pPr>
            <a:r>
              <a:rPr sz="1950" b="1">
                <a:solidFill>
                  <a:srgbClr val="1F4E79"/>
                </a:solidFill>
                <a:latin typeface="Arial"/>
                <a:ea typeface="Arial"/>
                <a:cs typeface="Arial"/>
              </a:rPr>
              <a:t>Review the evidence behind each mistake.</a:t>
            </a:r>
          </a:p>
          <a:p xmlns:a="http://schemas.openxmlformats.org/drawingml/2006/main">
            <a:pPr algn="l">
              <a:defRPr sz="1950" b="1">
                <a:solidFill>
                  <a:srgbClr val="1F4E79"/>
                </a:solidFill>
                <a:latin typeface="Arial"/>
                <a:ea typeface="Arial"/>
                <a:cs typeface="Arial"/>
              </a:defRPr>
            </a:pPr>
            <a:r>
              <a:rPr sz="1950" b="1">
                <a:solidFill>
                  <a:srgbClr val="1F4E79"/>
                </a:solidFill>
                <a:latin typeface="Arial"/>
                <a:ea typeface="Arial"/>
                <a:cs typeface="Arial"/>
              </a:rPr>
              <a:t>Select the next drill from saved outcomes.</a:t>
            </a:r>
          </a:p>
        </p:txBody>
      </p:sp>
      <p:sp>
        <p:nvSpPr>
          <p:cNvPr id="17414" name="sim label">
            <a:extLst xmlns:a="http://schemas.openxmlformats.org/drawingml/2006/main">
              <a:ext uri="{FF2B5EF4-FFF2-40B4-BE49-F238E27FC236}">
                <a16:creationId xmlns:a16="http://schemas.microsoft.com/office/drawing/2014/main" id="{CA7862EE-1975-444E-854D-F0F2F4C5CBA7}"/>
              </a:ext>
            </a:extLst>
          </p:cNvPr>
          <p:cNvSpPr>
            <a:spLocks xmlns:a="http://schemas.openxmlformats.org/drawingml/2006/main" noGrp="1"/>
          </p:cNvSpPr>
          <p:nvPr/>
        </p:nvSpPr>
        <p:spPr>
          <a:xfrm xmlns:a="http://schemas.openxmlformats.org/drawingml/2006/main">
            <a:off x="6200775" y="17907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F4E79"/>
                </a:solidFill>
                <a:latin typeface="Arial"/>
                <a:ea typeface="Arial"/>
                <a:cs typeface="Arial"/>
              </a:defRPr>
            </a:pPr>
            <a:r>
              <a:rPr sz="1725" b="1">
                <a:solidFill>
                  <a:srgbClr val="1F4E79"/>
                </a:solidFill>
                <a:latin typeface="Arial"/>
                <a:ea typeface="Arial"/>
                <a:cs typeface="Arial"/>
              </a:rPr>
              <a:t>SIMULATED ONLY · not human efficacy</a:t>
            </a:r>
          </a:p>
        </p:txBody>
      </p:sp>
      <p:graphicFrame>
        <p:nvGraphicFramePr>
          <p:cNvPr id="17430" name="Abstract paired learner comparison"/>
          <p:cNvGraphicFramePr/>
          <p:nvPr/>
        </p:nvGraphicFramePr>
        <p:xfrm>
          <a:off xmlns:a="http://schemas.openxmlformats.org/drawingml/2006/main" x="6200775" y="2266950"/>
          <a:ext xmlns:a="http://schemas.openxmlformats.org/drawingml/2006/main" cx="5381625" cy="1933575"/>
        </p:xfrm>
        <a:graphic xmlns:a="http://schemas.openxmlformats.org/drawingml/2006/main">
          <a:graphicData uri="http://schemas.openxmlformats.org/drawingml/2006/table">
            <a:tbl>
              <a:tblPr/>
              <a:tblGrid>
                <a:gridCol w="2714625"/>
                <a:gridCol w="1333500"/>
                <a:gridCol w="1333500"/>
              </a:tblGrid>
              <a:tr h="483394">
                <a:tc>
                  <a:txBody>
                    <a:bodyPr/>
                    <a:lstStyle/>
                    <a:p>
                      <a:r>
                        <a:rPr sz="1500" b="1">
                          <a:solidFill>
                            <a:srgbClr val="FFFFFF"/>
                          </a:solidFill>
                          <a:latin typeface="Arial"/>
                          <a:ea typeface="Arial"/>
                          <a:cs typeface="Arial"/>
                        </a:rPr>
                        <a:t>Metric</a:t>
                      </a:r>
                    </a:p>
                  </a:txBody>
                  <a:tcPr marL="95250" marR="95250" marT="47625" marB="47625">
                    <a:solidFill>
                      <a:srgbClr val="1F4E79"/>
                    </a:solidFill>
                  </a:tcPr>
                </a:tc>
                <a:tc>
                  <a:txBody>
                    <a:bodyPr/>
                    <a:lstStyle/>
                    <a:p>
                      <a:r>
                        <a:rPr sz="1500" b="1">
                          <a:solidFill>
                            <a:srgbClr val="FFFFFF"/>
                          </a:solidFill>
                          <a:latin typeface="Arial"/>
                          <a:ea typeface="Arial"/>
                          <a:cs typeface="Arial"/>
                        </a:rPr>
                        <a:t>Director</a:t>
                      </a:r>
                    </a:p>
                  </a:txBody>
                  <a:tcPr marL="95250" marR="95250" marT="47625" marB="47625">
                    <a:solidFill>
                      <a:srgbClr val="1F4E79"/>
                    </a:solidFill>
                  </a:tcPr>
                </a:tc>
                <a:tc>
                  <a:txBody>
                    <a:bodyPr/>
                    <a:lstStyle/>
                    <a:p>
                      <a:r>
                        <a:rPr sz="1500" b="1">
                          <a:solidFill>
                            <a:srgbClr val="FFFFFF"/>
                          </a:solidFill>
                          <a:latin typeface="Arial"/>
                          <a:ea typeface="Arial"/>
                          <a:cs typeface="Arial"/>
                        </a:rPr>
                        <a:t>Random</a:t>
                      </a:r>
                    </a:p>
                  </a:txBody>
                  <a:tcPr marL="95250" marR="95250" marT="47625" marB="47625">
                    <a:solidFill>
                      <a:srgbClr val="1F4E79"/>
                    </a:solidFill>
                  </a:tcPr>
                </a:tc>
              </a:tr>
              <a:tr h="483394">
                <a:tc>
                  <a:txBody>
                    <a:bodyPr/>
                    <a:lstStyle/>
                    <a:p>
                      <a:r>
                        <a:rPr sz="1500">
                          <a:solidFill>
                            <a:srgbClr val="111111"/>
                          </a:solidFill>
                          <a:latin typeface="Arial"/>
                          <a:ea typeface="Arial"/>
                          <a:cs typeface="Arial"/>
                        </a:rPr>
                        <a:t>Reached specified threshold</a:t>
                      </a:r>
                    </a:p>
                  </a:txBody>
                  <a:tcPr marL="95250" marR="95250" marT="47625" marB="47625">
                    <a:solidFill>
                      <a:srgbClr val="FFFFFF"/>
                    </a:solidFill>
                  </a:tcPr>
                </a:tc>
                <a:tc>
                  <a:txBody>
                    <a:bodyPr/>
                    <a:lstStyle/>
                    <a:p>
                      <a:r>
                        <a:rPr sz="1500">
                          <a:solidFill>
                            <a:srgbClr val="111111"/>
                          </a:solidFill>
                          <a:latin typeface="Arial"/>
                          <a:ea typeface="Arial"/>
                          <a:cs typeface="Arial"/>
                        </a:rPr>
                        <a:t>8 / 50</a:t>
                      </a:r>
                    </a:p>
                  </a:txBody>
                  <a:tcPr marL="95250" marR="95250" marT="47625" marB="47625">
                    <a:solidFill>
                      <a:srgbClr val="FFFFFF"/>
                    </a:solidFill>
                  </a:tcPr>
                </a:tc>
                <a:tc>
                  <a:txBody>
                    <a:bodyPr/>
                    <a:lstStyle/>
                    <a:p>
                      <a:r>
                        <a:rPr sz="1500">
                          <a:solidFill>
                            <a:srgbClr val="111111"/>
                          </a:solidFill>
                          <a:latin typeface="Arial"/>
                          <a:ea typeface="Arial"/>
                          <a:cs typeface="Arial"/>
                        </a:rPr>
                        <a:t>5 / 50</a:t>
                      </a:r>
                    </a:p>
                  </a:txBody>
                  <a:tcPr marL="95250" marR="95250" marT="47625" marB="47625">
                    <a:solidFill>
                      <a:srgbClr val="FFFFFF"/>
                    </a:solidFill>
                  </a:tcPr>
                </a:tc>
              </a:tr>
              <a:tr h="483394">
                <a:tc>
                  <a:txBody>
                    <a:bodyPr/>
                    <a:lstStyle/>
                    <a:p>
                      <a:r>
                        <a:rPr sz="1500">
                          <a:solidFill>
                            <a:srgbClr val="111111"/>
                          </a:solidFill>
                          <a:latin typeface="Arial"/>
                          <a:ea typeface="Arial"/>
                          <a:cs typeface="Arial"/>
                        </a:rPr>
                        <a:t>Median sessions, reached only</a:t>
                      </a:r>
                    </a:p>
                  </a:txBody>
                  <a:tcPr marL="95250" marR="95250" marT="47625" marB="47625">
                    <a:solidFill>
                      <a:srgbClr val="FFFFFF"/>
                    </a:solidFill>
                  </a:tcPr>
                </a:tc>
                <a:tc>
                  <a:txBody>
                    <a:bodyPr/>
                    <a:lstStyle/>
                    <a:p>
                      <a:r>
                        <a:rPr sz="1500">
                          <a:solidFill>
                            <a:srgbClr val="111111"/>
                          </a:solidFill>
                          <a:latin typeface="Arial"/>
                          <a:ea typeface="Arial"/>
                          <a:cs typeface="Arial"/>
                        </a:rPr>
                        <a:t>21.5</a:t>
                      </a:r>
                    </a:p>
                  </a:txBody>
                  <a:tcPr marL="95250" marR="95250" marT="47625" marB="47625">
                    <a:solidFill>
                      <a:srgbClr val="FFFFFF"/>
                    </a:solidFill>
                  </a:tcPr>
                </a:tc>
                <a:tc>
                  <a:txBody>
                    <a:bodyPr/>
                    <a:lstStyle/>
                    <a:p>
                      <a:r>
                        <a:rPr sz="1500">
                          <a:solidFill>
                            <a:srgbClr val="111111"/>
                          </a:solidFill>
                          <a:latin typeface="Arial"/>
                          <a:ea typeface="Arial"/>
                          <a:cs typeface="Arial"/>
                        </a:rPr>
                        <a:t>28</a:t>
                      </a:r>
                    </a:p>
                  </a:txBody>
                  <a:tcPr marL="95250" marR="95250" marT="47625" marB="47625">
                    <a:solidFill>
                      <a:srgbClr val="FFFFFF"/>
                    </a:solidFill>
                  </a:tcPr>
                </a:tc>
              </a:tr>
              <a:tr h="483394">
                <a:tc>
                  <a:txBody>
                    <a:bodyPr/>
                    <a:lstStyle/>
                    <a:p>
                      <a:r>
                        <a:rPr sz="1500">
                          <a:solidFill>
                            <a:srgbClr val="111111"/>
                          </a:solidFill>
                          <a:latin typeface="Arial"/>
                          <a:ea typeface="Arial"/>
                          <a:cs typeface="Arial"/>
                        </a:rPr>
                        <a:t>Mean final hidden probability</a:t>
                      </a:r>
                    </a:p>
                  </a:txBody>
                  <a:tcPr marL="95250" marR="95250" marT="47625" marB="47625">
                    <a:solidFill>
                      <a:srgbClr val="FFFFFF"/>
                    </a:solidFill>
                  </a:tcPr>
                </a:tc>
                <a:tc>
                  <a:txBody>
                    <a:bodyPr/>
                    <a:lstStyle/>
                    <a:p>
                      <a:r>
                        <a:rPr sz="1500">
                          <a:solidFill>
                            <a:srgbClr val="111111"/>
                          </a:solidFill>
                          <a:latin typeface="Arial"/>
                          <a:ea typeface="Arial"/>
                          <a:cs typeface="Arial"/>
                        </a:rPr>
                        <a:t>73.43%</a:t>
                      </a:r>
                    </a:p>
                  </a:txBody>
                  <a:tcPr marL="95250" marR="95250" marT="47625" marB="47625">
                    <a:solidFill>
                      <a:srgbClr val="FFFFFF"/>
                    </a:solidFill>
                  </a:tcPr>
                </a:tc>
                <a:tc>
                  <a:txBody>
                    <a:bodyPr/>
                    <a:lstStyle/>
                    <a:p>
                      <a:r>
                        <a:rPr sz="1500">
                          <a:solidFill>
                            <a:srgbClr val="111111"/>
                          </a:solidFill>
                          <a:latin typeface="Arial"/>
                          <a:ea typeface="Arial"/>
                          <a:cs typeface="Arial"/>
                        </a:rPr>
                        <a:t>73.15%</a:t>
                      </a:r>
                    </a:p>
                  </a:txBody>
                  <a:tcPr marL="95250" marR="95250" marT="47625" marB="47625">
                    <a:solidFill>
                      <a:srgbClr val="FFFFFF"/>
                    </a:solidFill>
                  </a:tcPr>
                </a:tc>
              </a:tr>
            </a:tbl>
          </a:graphicData>
        </a:graphic>
      </p:graphicFrame>
      <p:sp>
        <p:nvSpPr>
          <p:cNvPr id="17416" name="sim scope">
            <a:extLst xmlns:a="http://schemas.openxmlformats.org/drawingml/2006/main">
              <a:ext uri="{FF2B5EF4-FFF2-40B4-BE49-F238E27FC236}">
                <a16:creationId xmlns:a16="http://schemas.microsoft.com/office/drawing/2014/main" id="{5E9FAFAA-0921-4403-8ED6-0A935704DCAF}"/>
              </a:ext>
            </a:extLst>
          </p:cNvPr>
          <p:cNvSpPr>
            <a:spLocks xmlns:a="http://schemas.openxmlformats.org/drawingml/2006/main" noGrp="1"/>
          </p:cNvSpPr>
          <p:nvPr/>
        </p:nvSpPr>
        <p:spPr>
          <a:xfrm xmlns:a="http://schemas.openxmlformats.org/drawingml/2006/main">
            <a:off x="6200775" y="4371975"/>
            <a:ext cx="5381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50 paired profiles per policy × 30 sessions.</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Abstract Bernoulli learning law, uncalibrated;</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 human learners or tactical physics.</a:t>
            </a:r>
          </a:p>
        </p:txBody>
      </p:sp>
      <p:sp>
        <p:nvSpPr>
          <p:cNvPr id="17417" name="benefits pointer">
            <a:extLst xmlns:a="http://schemas.openxmlformats.org/drawingml/2006/main">
              <a:ext uri="{FF2B5EF4-FFF2-40B4-BE49-F238E27FC236}">
                <a16:creationId xmlns:a16="http://schemas.microsoft.com/office/drawing/2014/main" id="{DB81803A-34D1-4708-A930-216490245DAD}"/>
              </a:ext>
            </a:extLst>
          </p:cNvPr>
          <p:cNvSpPr>
            <a:spLocks xmlns:a="http://schemas.openxmlformats.org/drawingml/2006/main" noGrp="1"/>
          </p:cNvSpPr>
          <p:nvPr/>
        </p:nvSpPr>
        <p:spPr>
          <a:xfrm xmlns:a="http://schemas.openxmlformats.org/drawingml/2006/main">
            <a:off x="609600" y="3314700"/>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1">
                <a:solidFill>
                  <a:srgbClr val="111111"/>
                </a:solidFill>
                <a:latin typeface="Arial"/>
                <a:ea typeface="Arial"/>
                <a:cs typeface="Arial"/>
              </a:defRPr>
            </a:pPr>
            <a:r>
              <a:rPr sz="1650" b="1">
                <a:solidFill>
                  <a:srgbClr val="111111"/>
                </a:solidFill>
                <a:latin typeface="Arial"/>
                <a:ea typeface="Arial"/>
                <a:cs typeface="Arial"/>
              </a:rPr>
              <a:t>Benefits of the solution (social, economic, environmental, etc.)</a:t>
            </a:r>
          </a:p>
        </p:txBody>
      </p:sp>
      <p:sp>
        <p:nvSpPr>
          <p:cNvPr id="17418" name="benefits">
            <a:extLst xmlns:a="http://schemas.openxmlformats.org/drawingml/2006/main">
              <a:ext uri="{FF2B5EF4-FFF2-40B4-BE49-F238E27FC236}">
                <a16:creationId xmlns:a16="http://schemas.microsoft.com/office/drawing/2014/main" id="{D1C0C46C-61F8-42E2-855A-77F38C20CD23}"/>
              </a:ext>
            </a:extLst>
          </p:cNvPr>
          <p:cNvSpPr>
            <a:spLocks xmlns:a="http://schemas.openxmlformats.org/drawingml/2006/main" noGrp="1"/>
          </p:cNvSpPr>
          <p:nvPr/>
        </p:nvSpPr>
        <p:spPr>
          <a:xfrm xmlns:a="http://schemas.openxmlformats.org/drawingml/2006/main">
            <a:off x="609600" y="4057650"/>
            <a:ext cx="53530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Intended: accessible repetition on unit laptops</a:t>
            </a:r>
          </a:p>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and traceable instructor review. Cost savings</a:t>
            </a:r>
          </a:p>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and field-performance transfer are unmeasured.</a:t>
            </a:r>
          </a:p>
        </p:txBody>
      </p:sp>
      <p:sp>
        <p:nvSpPr>
          <p:cNvPr id="17419" name="human boundary">
            <a:extLst xmlns:a="http://schemas.openxmlformats.org/drawingml/2006/main">
              <a:ext uri="{FF2B5EF4-FFF2-40B4-BE49-F238E27FC236}">
                <a16:creationId xmlns:a16="http://schemas.microsoft.com/office/drawing/2014/main" id="{4B0E96ED-C5AC-404B-B587-2C90C7ED1D04}"/>
              </a:ext>
            </a:extLst>
          </p:cNvPr>
          <p:cNvSpPr>
            <a:spLocks xmlns:a="http://schemas.openxmlformats.org/drawingml/2006/main" noGrp="1"/>
          </p:cNvSpPr>
          <p:nvPr/>
        </p:nvSpPr>
        <p:spPr>
          <a:xfrm xmlns:a="http://schemas.openxmlformats.org/drawingml/2006/main">
            <a:off x="609600" y="5381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F4E79"/>
                </a:solidFill>
                <a:latin typeface="Arial"/>
                <a:ea typeface="Arial"/>
                <a:cs typeface="Arial"/>
              </a:defRPr>
            </a:pPr>
            <a:r>
              <a:rPr sz="2100" b="1">
                <a:solidFill>
                  <a:srgbClr val="1F4E79"/>
                </a:solidFill>
                <a:latin typeface="Arial"/>
                <a:ea typeface="Arial"/>
                <a:cs typeface="Arial"/>
              </a:rPr>
              <a:t>Human efficacy has not been measured.</a:t>
            </a:r>
          </a:p>
        </p:txBody>
      </p:sp>
      <p:sp>
        <p:nvSpPr>
          <p:cNvPr id="17420" name="next study">
            <a:extLst xmlns:a="http://schemas.openxmlformats.org/drawingml/2006/main">
              <a:ext uri="{FF2B5EF4-FFF2-40B4-BE49-F238E27FC236}">
                <a16:creationId xmlns:a16="http://schemas.microsoft.com/office/drawing/2014/main" id="{4EF54BFA-B057-437C-B4E5-0B996D4403F5}"/>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Next: subject-matter calibration and a consented pre/post pilot. Evaluation tooling is experimental.</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FC2ECDDC-EA4F-4E0A-A9B4-BD9C0C039C44}"/>
              </a:ext>
            </a:extLst>
          </p:cNvPr>
          <p:cNvSpPr>
            <a:spLocks xmlns:a="http://schemas.openxmlformats.org/drawingml/2006/main" noGrp="1"/>
          </p:cNvSpPr>
          <p:nvPr>
            <p:ph type="title" idx="0"/>
          </p:nvPr>
        </p:nvSpPr>
        <p:spPr>
          <a:xfrm xmlns:a="http://schemas.openxmlformats.org/drawingml/2006/main">
            <a:off x="1714500" y="95250"/>
            <a:ext cx="8001000" cy="1000125"/>
          </a:xfrm>
        </p:spPr>
        <p:txBody>
          <a:bodyPr xmlns:a="http://schemas.openxmlformats.org/drawingml/2006/main" lIns="19050" tIns="0" rIns="19050" bIns="0" anchor="ctr">
            <a:noAutofit/>
          </a:bodyPr>
          <a:lstStyle xmlns:a="http://schemas.openxmlformats.org/drawingml/2006/main"/>
          <a:p xmlns:a="http://schemas.openxmlformats.org/drawingml/2006/main">
            <a:pPr algn="ctr">
              <a:buNone/>
              <a:defRPr sz="3450" b="1">
                <a:solidFill>
                  <a:srgbClr val="111111"/>
                </a:solidFill>
                <a:latin typeface="Times New Roman"/>
                <a:ea typeface="Times New Roman"/>
                <a:cs typeface="Times New Roman"/>
              </a:defRPr>
            </a:pPr>
            <a:r>
              <a:rPr sz="3450" b="1">
                <a:solidFill>
                  <a:srgbClr val="111111"/>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88F8CA96-E26C-4950-907B-3979EB00CD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278A7A43-DC65-43B2-9423-3721392C00D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19050" tIns="0" rIns="1905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WhiteList&amp;0</a:t>
            </a:r>
            <a:endParaRPr/>
          </a:p>
        </p:txBody>
      </p:sp>
      <p:pic>
        <p:nvPicPr>
          <p:cNvPr id="17427" name="Picture 11"/>
          <p:cNvPicPr>
            <a:picLocks xmlns:a="http://schemas.openxmlformats.org/drawingml/2006/main" noChangeAspect="1"/>
          </p:cNvPicPr>
          <p:nvPr/>
        </p:nvPicPr>
        <p:blipFill>
          <a:blip xmlns:r="http://schemas.openxmlformats.org/officeDocument/2006/relationships" xmlns:a="http://schemas.openxmlformats.org/drawingml/2006/main" r:embed="R43539ecf5428489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reference pointer">
            <a:extLst xmlns:a="http://schemas.openxmlformats.org/drawingml/2006/main">
              <a:ext uri="{FF2B5EF4-FFF2-40B4-BE49-F238E27FC236}">
                <a16:creationId xmlns:a16="http://schemas.microsoft.com/office/drawing/2014/main" id="{534B42A0-5598-4298-B359-F8983B7F173B}"/>
              </a:ext>
            </a:extLst>
          </p:cNvPr>
          <p:cNvSpPr>
            <a:spLocks xmlns:a="http://schemas.openxmlformats.org/drawingml/2006/main" noGrp="1"/>
          </p:cNvSpPr>
          <p:nvPr/>
        </p:nvSpPr>
        <p:spPr>
          <a:xfrm xmlns:a="http://schemas.openxmlformats.org/drawingml/2006/main">
            <a:off x="609600" y="13430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Details / Links of the reference and research work</a:t>
            </a:r>
          </a:p>
        </p:txBody>
      </p:sp>
      <p:sp>
        <p:nvSpPr>
          <p:cNvPr id="17413" name="official refs">
            <a:extLst xmlns:a="http://schemas.openxmlformats.org/drawingml/2006/main">
              <a:ext uri="{FF2B5EF4-FFF2-40B4-BE49-F238E27FC236}">
                <a16:creationId xmlns:a16="http://schemas.microsoft.com/office/drawing/2014/main" id="{1B82F1F1-B573-436C-8F63-43C3101BED6F}"/>
              </a:ext>
            </a:extLst>
          </p:cNvPr>
          <p:cNvSpPr>
            <a:spLocks xmlns:a="http://schemas.openxmlformats.org/drawingml/2006/main" noGrp="1"/>
          </p:cNvSpPr>
          <p:nvPr/>
        </p:nvSpPr>
        <p:spPr>
          <a:xfrm xmlns:a="http://schemas.openxmlformats.org/drawingml/2006/main">
            <a:off x="609600" y="1866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Official problem statement and 2026 submission template</a:t>
            </a:r>
          </a:p>
        </p:txBody>
      </p:sp>
      <p:sp>
        <p:nvSpPr>
          <p:cNvPr id="17414" name="official links">
            <a:extLst xmlns:a="http://schemas.openxmlformats.org/drawingml/2006/main">
              <a:ext uri="{FF2B5EF4-FFF2-40B4-BE49-F238E27FC236}">
                <a16:creationId xmlns:a16="http://schemas.microsoft.com/office/drawing/2014/main" id="{0FBBB9A2-D59E-436C-B24B-A07DE879425A}"/>
              </a:ext>
            </a:extLst>
          </p:cNvPr>
          <p:cNvSpPr>
            <a:spLocks xmlns:a="http://schemas.openxmlformats.org/drawingml/2006/main" noGrp="1"/>
          </p:cNvSpPr>
          <p:nvPr/>
        </p:nvSpPr>
        <p:spPr>
          <a:xfrm xmlns:a="http://schemas.openxmlformats.org/drawingml/2006/main">
            <a:off x="609600" y="2219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sih.gov.in/sih2026PS  ·  sih.gov.in/letters/2026/SIH2026-IDEA-Presentation-Format.pptx</a:t>
            </a:r>
          </a:p>
        </p:txBody>
      </p:sp>
      <p:sp>
        <p:nvSpPr>
          <p:cNvPr id="17415" name="algorithm ref">
            <a:extLst xmlns:a="http://schemas.openxmlformats.org/drawingml/2006/main">
              <a:ext uri="{FF2B5EF4-FFF2-40B4-BE49-F238E27FC236}">
                <a16:creationId xmlns:a16="http://schemas.microsoft.com/office/drawing/2014/main" id="{67B33F88-98CF-4361-8BB3-C6D10DA353DB}"/>
              </a:ext>
            </a:extLst>
          </p:cNvPr>
          <p:cNvSpPr>
            <a:spLocks xmlns:a="http://schemas.openxmlformats.org/drawingml/2006/main" noGrp="1"/>
          </p:cNvSpPr>
          <p:nvPr/>
        </p:nvSpPr>
        <p:spPr>
          <a:xfrm xmlns:a="http://schemas.openxmlformats.org/drawingml/2006/main">
            <a:off x="609600" y="27336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Russo et al. — A Tutorial on Thompson Sampling (2018)</a:t>
            </a:r>
          </a:p>
        </p:txBody>
      </p:sp>
      <p:sp>
        <p:nvSpPr>
          <p:cNvPr id="17416" name="algorithm link">
            <a:extLst xmlns:a="http://schemas.openxmlformats.org/drawingml/2006/main">
              <a:ext uri="{FF2B5EF4-FFF2-40B4-BE49-F238E27FC236}">
                <a16:creationId xmlns:a16="http://schemas.microsoft.com/office/drawing/2014/main" id="{6A248449-4E1B-40C4-9C5C-66C7BE7B5F1B}"/>
              </a:ext>
            </a:extLst>
          </p:cNvPr>
          <p:cNvSpPr>
            <a:spLocks xmlns:a="http://schemas.openxmlformats.org/drawingml/2006/main" noGrp="1"/>
          </p:cNvSpPr>
          <p:nvPr/>
        </p:nvSpPr>
        <p:spPr>
          <a:xfrm xmlns:a="http://schemas.openxmlformats.org/drawingml/2006/main">
            <a:off x="609600" y="30956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arxiv.org/abs/1707.02038  ·  Method reference; does not validate VYUHA training efficacy.</a:t>
            </a:r>
          </a:p>
        </p:txBody>
      </p:sp>
      <p:sp>
        <p:nvSpPr>
          <p:cNvPr id="17417" name="implementation refs">
            <a:extLst xmlns:a="http://schemas.openxmlformats.org/drawingml/2006/main">
              <a:ext uri="{FF2B5EF4-FFF2-40B4-BE49-F238E27FC236}">
                <a16:creationId xmlns:a16="http://schemas.microsoft.com/office/drawing/2014/main" id="{96036D52-E1D7-46E0-9494-AFD5520DCB05}"/>
              </a:ext>
            </a:extLst>
          </p:cNvPr>
          <p:cNvSpPr>
            <a:spLocks xmlns:a="http://schemas.openxmlformats.org/drawingml/2006/main" noGrp="1"/>
          </p:cNvSpPr>
          <p:nvPr/>
        </p:nvSpPr>
        <p:spPr>
          <a:xfrm xmlns:a="http://schemas.openxmlformats.org/drawingml/2006/main">
            <a:off x="609600" y="36004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Implementation references</a:t>
            </a:r>
          </a:p>
        </p:txBody>
      </p:sp>
      <p:sp>
        <p:nvSpPr>
          <p:cNvPr id="17418" name="implementation links">
            <a:extLst xmlns:a="http://schemas.openxmlformats.org/drawingml/2006/main">
              <a:ext uri="{FF2B5EF4-FFF2-40B4-BE49-F238E27FC236}">
                <a16:creationId xmlns:a16="http://schemas.microsoft.com/office/drawing/2014/main" id="{3948A017-E08C-4BE1-9253-05720679199D}"/>
              </a:ext>
            </a:extLst>
          </p:cNvPr>
          <p:cNvSpPr>
            <a:spLocks xmlns:a="http://schemas.openxmlformats.org/drawingml/2006/main" noGrp="1"/>
          </p:cNvSpPr>
          <p:nvPr/>
        </p:nvSpPr>
        <p:spPr>
          <a:xfrm xmlns:a="http://schemas.openxmlformats.org/drawingml/2006/main">
            <a:off x="609600" y="39624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developer.mozilla.org/en-US/docs/Web/API/Web_Workers_API/Using_web_workers</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fastapi.tiangolo.com/tutorial/static-files/</a:t>
            </a:r>
          </a:p>
        </p:txBody>
      </p:sp>
      <p:sp>
        <p:nvSpPr>
          <p:cNvPr id="17419" name="evidence ref">
            <a:extLst xmlns:a="http://schemas.openxmlformats.org/drawingml/2006/main">
              <a:ext uri="{FF2B5EF4-FFF2-40B4-BE49-F238E27FC236}">
                <a16:creationId xmlns:a16="http://schemas.microsoft.com/office/drawing/2014/main" id="{E5A66D27-A580-46DD-AD53-25C88799BD1D}"/>
              </a:ext>
            </a:extLst>
          </p:cNvPr>
          <p:cNvSpPr>
            <a:spLocks xmlns:a="http://schemas.openxmlformats.org/drawingml/2006/main" noGrp="1"/>
          </p:cNvSpPr>
          <p:nvPr/>
        </p:nvSpPr>
        <p:spPr>
          <a:xfrm xmlns:a="http://schemas.openxmlformats.org/drawingml/2006/main">
            <a:off x="609600" y="46196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1F4E79"/>
                </a:solidFill>
                <a:latin typeface="Arial"/>
                <a:ea typeface="Arial"/>
                <a:cs typeface="Arial"/>
              </a:defRPr>
            </a:pPr>
            <a:r>
              <a:rPr sz="1875" b="1">
                <a:solidFill>
                  <a:srgbClr val="1F4E79"/>
                </a:solidFill>
                <a:latin typeface="Arial"/>
                <a:ea typeface="Arial"/>
                <a:cs typeface="Arial"/>
              </a:rPr>
              <a:t>Reproducible product evidence</a:t>
            </a:r>
          </a:p>
        </p:txBody>
      </p:sp>
      <p:sp>
        <p:nvSpPr>
          <p:cNvPr id="17420" name="evidence links">
            <a:extLst xmlns:a="http://schemas.openxmlformats.org/drawingml/2006/main">
              <a:ext uri="{FF2B5EF4-FFF2-40B4-BE49-F238E27FC236}">
                <a16:creationId xmlns:a16="http://schemas.microsoft.com/office/drawing/2014/main" id="{CA58C6DE-D1B0-48AB-87BF-6D42DA9D10C0}"/>
              </a:ext>
            </a:extLst>
          </p:cNvPr>
          <p:cNvSpPr>
            <a:spLocks xmlns:a="http://schemas.openxmlformats.org/drawingml/2006/main" noGrp="1"/>
          </p:cNvSpPr>
          <p:nvPr/>
        </p:nvSpPr>
        <p:spPr>
          <a:xfrm xmlns:a="http://schemas.openxmlformats.org/drawingml/2006/main">
            <a:off x="609600" y="49815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FINAL-VALIDATION.md · release-evidence.json · feature-manifest.json</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Private repository: github.com/vishruthvayu/vyuha-sih26247 · source package supplied separately.</a:t>
            </a:r>
          </a:p>
        </p:txBody>
      </p:sp>
      <p:sp>
        <p:nvSpPr>
          <p:cNvPr id="17421" name="roadmap">
            <a:extLst xmlns:a="http://schemas.openxmlformats.org/drawingml/2006/main">
              <a:ext uri="{FF2B5EF4-FFF2-40B4-BE49-F238E27FC236}">
                <a16:creationId xmlns:a16="http://schemas.microsoft.com/office/drawing/2014/main" id="{9068EBCD-F4D0-4CA7-88ED-9F87A8E847AB}"/>
              </a:ext>
            </a:extLst>
          </p:cNvPr>
          <p:cNvSpPr>
            <a:spLocks xmlns:a="http://schemas.openxmlformats.org/drawingml/2006/main" noGrp="1"/>
          </p:cNvSpPr>
          <p:nvPr/>
        </p:nvSpPr>
        <p:spPr>
          <a:xfrm xmlns:a="http://schemas.openxmlformats.org/drawingml/2006/main">
            <a:off x="609600" y="57912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1">
                <a:solidFill>
                  <a:srgbClr val="1F4E79"/>
                </a:solidFill>
                <a:latin typeface="Arial"/>
                <a:ea typeface="Arial"/>
                <a:cs typeface="Arial"/>
              </a:defRPr>
            </a:pPr>
            <a:r>
              <a:rPr sz="1575" b="1">
                <a:solidFill>
                  <a:srgbClr val="1F4E79"/>
                </a:solidFill>
                <a:latin typeface="Arial"/>
                <a:ea typeface="Arial"/>
                <a:cs typeface="Arial"/>
              </a:rPr>
              <a:t>DEFERRED: calibrated signatures · human/field evaluation · production identity · live feeds · crew · VR · rain</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2026-10-03T17:33:41.4510000Z</dcterms:created>
  <dcterms:modified xsi:type="dcterms:W3CDTF">2026-10-03T17:33:41.4510000Z</dcterms:modified>
</coreProperties>
</file>